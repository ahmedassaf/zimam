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bde85c6d-e80a-591e-d124-15cbc631a1ac}">
          <p14:sldIdLst>
            <p14:sldId id="256"/>
            <p14:sldId id="257"/>
          </p14:sldIdLst>
        </p14:section>
        <p14:section name="Offer and market" id="{807e39bf-c1d2-0659-6a2c-90b379f4957d}">
          <p14:sldIdLst>
            <p14:sldId id="258"/>
            <p14:sldId id="259"/>
            <p14:sldId id="260"/>
          </p14:sldIdLst>
        </p14:section>
        <p14:section name="Price book" id="{bf89bff4-cc2b-c5d9-9182-e008239aa0fe}">
          <p14:sldIdLst>
            <p14:sldId id="261"/>
            <p14:sldId id="262"/>
            <p14:sldId id="263"/>
          </p14:sldIdLst>
        </p14:section>
        <p14:section name="Costs" id="{127fdc36-8065-404d-3cb3-71f08913daa7}">
          <p14:sldIdLst>
            <p14:sldId id="264"/>
            <p14:sldId id="265"/>
          </p14:sldIdLst>
        </p14:section>
        <p14:section name="Economics" id="{a38aa2fd-51a8-e7ec-7c97-72ba2ab270f0}">
          <p14:sldIdLst>
            <p14:sldId id="266"/>
            <p14:sldId id="267"/>
            <p14:sldId id="268"/>
          </p14:sldIdLst>
        </p14:section>
        <p14:section name="AI" id="{6701a89b-3e13-5b8c-f08b-e123920ccb27}">
          <p14:sldIdLst>
            <p14:sldId id="269"/>
            <p14:sldId id="270"/>
            <p14:sldId id="271"/>
          </p14:sldIdLst>
        </p14:section>
        <p14:section name="Decisions" id="{8824e28e-c912-b788-cec5-4deecad7f449}">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Monthly price at about 10,000 MAU (SAR)</a:t>
            </a:r>
          </a:p>
        </c:rich>
      </c:tx>
      <c:layout/>
      <c:overlay val="0"/>
    </c:title>
    <c:autoTitleDeleted val="0"/>
    <c:plotArea>
      <c:layout/>
      <c:barChart>
        <c:barDir val="bar"/>
        <c:grouping val="clustered"/>
        <c:varyColors val="0"/>
        <c:ser>
          <c:idx val="0"/>
          <c:order val="0"/>
          <c:tx>
            <c:strRef>
              <c:f>Sheet1!$B$1</c:f>
              <c:strCache>
                <c:ptCount val="1"/>
                <c:pt idx="0">
                  <c:v>SAR per month at ~10k MAU</c:v>
                </c:pt>
              </c:strCache>
            </c:strRef>
          </c:tx>
          <c:spPr>
            <a:solidFill>
              <a:srgbClr val="0C6A4E"/>
            </a:solidFill>
            <a:effectLst/>
          </c:spPr>
          <c:invertIfNegative val="0"/>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dPt>
            <c:idx val="0"/>
            <c:invertIfNegative val="0"/>
            <c:bubble3D val="0"/>
            <c:spPr>
              <a:solidFill>
                <a:srgbClr val="0C6A4E"/>
              </a:solidFill>
              <a:effectLst/>
            </c:spPr>
          </c:dPt>
          <c:dPt>
            <c:idx val="1"/>
            <c:invertIfNegative val="0"/>
            <c:bubble3D val="0"/>
            <c:spPr>
              <a:solidFill>
                <a:srgbClr val="9BC9B5"/>
              </a:solidFill>
              <a:effectLst/>
            </c:spPr>
          </c:dPt>
          <c:dPt>
            <c:idx val="2"/>
            <c:invertIfNegative val="0"/>
            <c:bubble3D val="0"/>
            <c:spPr>
              <a:solidFill>
                <a:srgbClr val="9BC9B5"/>
              </a:solidFill>
              <a:effectLst/>
            </c:spPr>
          </c:dPt>
          <c:dPt>
            <c:idx val="3"/>
            <c:invertIfNegative val="0"/>
            <c:bubble3D val="0"/>
            <c:spPr>
              <a:solidFill>
                <a:srgbClr val="9BC9B5"/>
              </a:solidFill>
              <a:effectLst/>
            </c:spPr>
          </c:dPt>
          <c:cat>
            <c:multiLvlStrRef>
              <c:f>Sheet1!$A$2:$A$5</c:f>
              <c:multiLvlStrCache>
                <c:ptCount val="4"/>
                <c:lvl>
                  <c:pt idx="0">
                    <c:v>Zimam Starter 10k</c:v>
                  </c:pt>
                  <c:pt idx="1">
                    <c:v>OCI IAM (in-Kingdom)</c:v>
                  </c:pt>
                  <c:pt idx="2">
                    <c:v>Yookey</c:v>
                  </c:pt>
                  <c:pt idx="3">
                    <c:v>Auth0 B2C Essentials</c:v>
                  </c:pt>
                </c:lvl>
              </c:multiLvlStrCache>
            </c:multiLvlStrRef>
          </c:cat>
          <c:val>
            <c:numRef>
              <c:f>Sheet1!$B$2:$B$5</c:f>
              <c:numCache>
                <c:formatCode>General</c:formatCode>
                <c:ptCount val="4"/>
                <c:pt idx="0">
                  <c:v>490</c:v>
                </c:pt>
                <c:pt idx="1">
                  <c:v>600</c:v>
                </c:pt>
                <c:pt idx="2">
                  <c:v>1680</c:v>
                </c:pt>
                <c:pt idx="3">
                  <c:v>2625</c:v>
                </c:pt>
              </c:numCache>
            </c:numRef>
          </c:val>
        </c:ser>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1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Monthly price for a dedicated instance (SAR)</a:t>
            </a:r>
          </a:p>
        </c:rich>
      </c:tx>
      <c:layout/>
      <c:overlay val="0"/>
    </c:title>
    <c:autoTitleDeleted val="0"/>
    <c:plotArea>
      <c:layout/>
      <c:barChart>
        <c:barDir val="bar"/>
        <c:grouping val="clustered"/>
        <c:varyColors val="0"/>
        <c:ser>
          <c:idx val="0"/>
          <c:order val="0"/>
          <c:tx>
            <c:strRef>
              <c:f>Sheet1!$B$1</c:f>
              <c:strCache>
                <c:ptCount val="1"/>
                <c:pt idx="0">
                  <c:v>SAR per month</c:v>
                </c:pt>
              </c:strCache>
            </c:strRef>
          </c:tx>
          <c:spPr>
            <a:solidFill>
              <a:srgbClr val="0C6A4E"/>
            </a:solidFill>
            <a:effectLst/>
          </c:spPr>
          <c:invertIfNegative val="0"/>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dPt>
            <c:idx val="0"/>
            <c:invertIfNegative val="0"/>
            <c:bubble3D val="0"/>
            <c:spPr>
              <a:solidFill>
                <a:srgbClr val="0C6A4E"/>
              </a:solidFill>
              <a:effectLst/>
            </c:spPr>
          </c:dPt>
          <c:dPt>
            <c:idx val="1"/>
            <c:invertIfNegative val="0"/>
            <c:bubble3D val="0"/>
            <c:spPr>
              <a:solidFill>
                <a:srgbClr val="9BC9B5"/>
              </a:solidFill>
              <a:effectLst/>
            </c:spPr>
          </c:dPt>
          <c:dPt>
            <c:idx val="2"/>
            <c:invertIfNegative val="0"/>
            <c:bubble3D val="0"/>
            <c:spPr>
              <a:solidFill>
                <a:srgbClr val="9BC9B5"/>
              </a:solidFill>
              <a:effectLst/>
            </c:spPr>
          </c:dPt>
          <c:dPt>
            <c:idx val="3"/>
            <c:invertIfNegative val="0"/>
            <c:bubble3D val="0"/>
            <c:spPr>
              <a:solidFill>
                <a:srgbClr val="9BC9B5"/>
              </a:solidFill>
              <a:effectLst/>
            </c:spPr>
          </c:dPt>
          <c:dPt>
            <c:idx val="4"/>
            <c:invertIfNegative val="0"/>
            <c:bubble3D val="0"/>
            <c:spPr>
              <a:solidFill>
                <a:srgbClr val="0C6A4E"/>
              </a:solidFill>
              <a:effectLst/>
            </c:spPr>
          </c:dPt>
          <c:dPt>
            <c:idx val="5"/>
            <c:invertIfNegative val="0"/>
            <c:bubble3D val="0"/>
            <c:spPr>
              <a:solidFill>
                <a:srgbClr val="0C6A4E"/>
              </a:solidFill>
              <a:effectLst/>
            </c:spPr>
          </c:dPt>
          <c:dPt>
            <c:idx val="6"/>
            <c:invertIfNegative val="0"/>
            <c:bubble3D val="0"/>
            <c:spPr>
              <a:solidFill>
                <a:srgbClr val="9BC9B5"/>
              </a:solidFill>
              <a:effectLst/>
            </c:spPr>
          </c:dPt>
          <c:cat>
            <c:multiLvlStrRef>
              <c:f>Sheet1!$A$2:$A$8</c:f>
              <c:multiLvlStrCache>
                <c:ptCount val="7"/>
                <c:lvl>
                  <c:pt idx="0">
                    <c:v>Zimam Business S</c:v>
                  </c:pt>
                  <c:pt idx="1">
                    <c:v>Cloud-IAM Essential</c:v>
                  </c:pt>
                  <c:pt idx="2">
                    <c:v>Skycloak Business</c:v>
                  </c:pt>
                  <c:pt idx="3">
                    <c:v>Phase Two Premium (from)</c:v>
                  </c:pt>
                  <c:pt idx="4">
                    <c:v>Zimam Business M</c:v>
                  </c:pt>
                  <c:pt idx="5">
                    <c:v>Zimam Enterprise S (annual)</c:v>
                  </c:pt>
                  <c:pt idx="6">
                    <c:v>Ping Essential</c:v>
                  </c:pt>
                </c:lvl>
              </c:multiLvlStrCache>
            </c:multiLvlStrRef>
          </c:cat>
          <c:val>
            <c:numRef>
              <c:f>Sheet1!$B$2:$B$8</c:f>
              <c:numCache>
                <c:formatCode>General</c:formatCode>
                <c:ptCount val="7"/>
                <c:pt idx="0">
                  <c:v>1500</c:v>
                </c:pt>
                <c:pt idx="1">
                  <c:v>2130</c:v>
                </c:pt>
                <c:pt idx="2">
                  <c:v>2246</c:v>
                </c:pt>
                <c:pt idx="3">
                  <c:v>2809</c:v>
                </c:pt>
                <c:pt idx="4">
                  <c:v>3000</c:v>
                </c:pt>
                <c:pt idx="5">
                  <c:v>10125</c:v>
                </c:pt>
                <c:pt idx="6">
                  <c:v>10938</c:v>
                </c:pt>
              </c:numCache>
            </c:numRef>
          </c:val>
        </c:ser>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1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OCI list cost, SAR per month</a:t>
            </a:r>
          </a:p>
        </c:rich>
      </c:tx>
      <c:layout/>
      <c:overlay val="0"/>
    </c:title>
    <c:autoTitleDeleted val="0"/>
    <c:plotArea>
      <c:layout/>
      <c:barChart>
        <c:barDir val="bar"/>
        <c:grouping val="clustered"/>
        <c:varyColors val="0"/>
        <c:ser>
          <c:idx val="0"/>
          <c:order val="0"/>
          <c:tx>
            <c:strRef>
              <c:f>Sheet1!$B$1</c:f>
              <c:strCache>
                <c:ptCount val="1"/>
                <c:pt idx="0">
                  <c:v>SAR per month</c:v>
                </c:pt>
              </c:strCache>
            </c:strRef>
          </c:tx>
          <c:spPr>
            <a:solidFill>
              <a:srgbClr val="56645C"/>
            </a:solidFill>
            <a:effectLst/>
          </c:spPr>
          <c:invertIfNegative val="0"/>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dPt>
            <c:idx val="0"/>
            <c:invertIfNegative val="0"/>
            <c:bubble3D val="0"/>
            <c:spPr>
              <a:solidFill>
                <a:srgbClr val="56645C"/>
              </a:solidFill>
              <a:effectLst/>
            </c:spPr>
          </c:dPt>
          <c:dPt>
            <c:idx val="1"/>
            <c:invertIfNegative val="0"/>
            <c:bubble3D val="0"/>
            <c:spPr>
              <a:solidFill>
                <a:srgbClr val="56645C"/>
              </a:solidFill>
              <a:effectLst/>
            </c:spPr>
          </c:dPt>
          <c:dPt>
            <c:idx val="2"/>
            <c:invertIfNegative val="0"/>
            <c:bubble3D val="0"/>
            <c:spPr>
              <a:solidFill>
                <a:srgbClr val="56645C"/>
              </a:solidFill>
              <a:effectLst/>
            </c:spPr>
          </c:dPt>
          <c:dPt>
            <c:idx val="3"/>
            <c:invertIfNegative val="0"/>
            <c:bubble3D val="0"/>
            <c:spPr>
              <a:solidFill>
                <a:srgbClr val="0C6A4E"/>
              </a:solidFill>
              <a:effectLst/>
            </c:spPr>
          </c:dPt>
          <c:dPt>
            <c:idx val="4"/>
            <c:invertIfNegative val="0"/>
            <c:bubble3D val="0"/>
            <c:spPr>
              <a:solidFill>
                <a:srgbClr val="0C6A4E"/>
              </a:solidFill>
              <a:effectLst/>
            </c:spPr>
          </c:dPt>
          <c:dPt>
            <c:idx val="5"/>
            <c:invertIfNegative val="0"/>
            <c:bubble3D val="0"/>
            <c:spPr>
              <a:solidFill>
                <a:srgbClr val="0C6A4E"/>
              </a:solidFill>
              <a:effectLst/>
            </c:spPr>
          </c:dPt>
          <c:dPt>
            <c:idx val="6"/>
            <c:invertIfNegative val="0"/>
            <c:bubble3D val="0"/>
            <c:spPr>
              <a:solidFill>
                <a:srgbClr val="0B3D2E"/>
              </a:solidFill>
              <a:effectLst/>
            </c:spPr>
          </c:dPt>
          <c:dPt>
            <c:idx val="7"/>
            <c:invertIfNegative val="0"/>
            <c:bubble3D val="0"/>
            <c:spPr>
              <a:solidFill>
                <a:srgbClr val="0B3D2E"/>
              </a:solidFill>
              <a:effectLst/>
            </c:spPr>
          </c:dPt>
          <c:dPt>
            <c:idx val="8"/>
            <c:invertIfNegative val="0"/>
            <c:bubble3D val="0"/>
            <c:spPr>
              <a:solidFill>
                <a:srgbClr val="0B3D2E"/>
              </a:solidFill>
              <a:effectLst/>
            </c:spPr>
          </c:dPt>
          <c:dPt>
            <c:idx val="9"/>
            <c:invertIfNegative val="0"/>
            <c:bubble3D val="0"/>
            <c:spPr>
              <a:solidFill>
                <a:srgbClr val="7A3E9D"/>
              </a:solidFill>
              <a:effectLst/>
            </c:spPr>
          </c:dPt>
          <c:cat>
            <c:multiLvlStrRef>
              <c:f>Sheet1!$A$2:$A$11</c:f>
              <c:multiLvlStrCache>
                <c:ptCount val="10"/>
                <c:lvl>
                  <c:pt idx="0">
                    <c:v>Platform (control plane)</c:v>
                  </c:pt>
                  <c:pt idx="1">
                    <c:v>Staging</c:v>
                  </c:pt>
                  <c:pt idx="2">
                    <c:v>Pooled cell base</c:v>
                  </c:pt>
                  <c:pt idx="3">
                    <c:v>+ Business S tenant</c:v>
                  </c:pt>
                  <c:pt idx="4">
                    <c:v>+ Business M tenant</c:v>
                  </c:pt>
                  <c:pt idx="5">
                    <c:v>+ Business L tenant</c:v>
                  </c:pt>
                  <c:pt idx="6">
                    <c:v>Enterprise cell S + DR</c:v>
                  </c:pt>
                  <c:pt idx="7">
                    <c:v>Enterprise cell M + DR</c:v>
                  </c:pt>
                  <c:pt idx="8">
                    <c:v>Enterprise cell L + DR</c:v>
                  </c:pt>
                  <c:pt idx="9">
                    <c:v>Gov options, per cell</c:v>
                  </c:pt>
                </c:lvl>
              </c:multiLvlStrCache>
            </c:multiLvlStrRef>
          </c:cat>
          <c:val>
            <c:numRef>
              <c:f>Sheet1!$B$2:$B$11</c:f>
              <c:numCache>
                <c:formatCode>General</c:formatCode>
                <c:ptCount val="10"/>
                <c:pt idx="0">
                  <c:v>4572</c:v>
                </c:pt>
                <c:pt idx="1">
                  <c:v>1024</c:v>
                </c:pt>
                <c:pt idx="2">
                  <c:v>6107</c:v>
                </c:pt>
                <c:pt idx="3">
                  <c:v>330</c:v>
                </c:pt>
                <c:pt idx="4">
                  <c:v>663</c:v>
                </c:pt>
                <c:pt idx="5">
                  <c:v>1544</c:v>
                </c:pt>
                <c:pt idx="6">
                  <c:v>4613</c:v>
                </c:pt>
                <c:pt idx="7">
                  <c:v>9723</c:v>
                </c:pt>
                <c:pt idx="8">
                  <c:v>19029</c:v>
                </c:pt>
                <c:pt idx="9">
                  <c:v>18304</c:v>
                </c:pt>
              </c:numCache>
            </c:numRef>
          </c:val>
        </c:ser>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max val="23000"/>
          <c:min val="0"/>
        </c:scaling>
        <c:delete val="1"/>
        <c:axPos val="b"/>
        <c:majorGridlines>
          <c:spPr>
            <a:ln w="9525" cap="flat">
              <a:solidFill>
                <a:srgbClr val="E1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Infrastructure gross margin by plan</a:t>
            </a:r>
          </a:p>
        </c:rich>
      </c:tx>
      <c:layout/>
      <c:overlay val="0"/>
    </c:title>
    <c:autoTitleDeleted val="0"/>
    <c:plotArea>
      <c:layout/>
      <c:barChart>
        <c:barDir val="bar"/>
        <c:grouping val="clustered"/>
        <c:varyColors val="0"/>
        <c:ser>
          <c:idx val="0"/>
          <c:order val="0"/>
          <c:tx>
            <c:strRef>
              <c:f>Sheet1!$B$1</c:f>
              <c:strCache>
                <c:ptCount val="1"/>
                <c:pt idx="0">
                  <c:v>Gross margin</c:v>
                </c:pt>
              </c:strCache>
            </c:strRef>
          </c:tx>
          <c:spPr>
            <a:solidFill>
              <a:srgbClr val="9BC9B5"/>
            </a:solidFill>
            <a:effectLst/>
          </c:spPr>
          <c:invertIfNegative val="0"/>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dPt>
            <c:idx val="0"/>
            <c:invertIfNegative val="0"/>
            <c:bubble3D val="0"/>
            <c:spPr>
              <a:solidFill>
                <a:srgbClr val="9BC9B5"/>
              </a:solidFill>
              <a:effectLst/>
            </c:spPr>
          </c:dPt>
          <c:dPt>
            <c:idx val="1"/>
            <c:invertIfNegative val="0"/>
            <c:bubble3D val="0"/>
            <c:spPr>
              <a:solidFill>
                <a:srgbClr val="0C6A4E"/>
              </a:solidFill>
              <a:effectLst/>
            </c:spPr>
          </c:dPt>
          <c:dPt>
            <c:idx val="2"/>
            <c:invertIfNegative val="0"/>
            <c:bubble3D val="0"/>
            <c:spPr>
              <a:solidFill>
                <a:srgbClr val="0C6A4E"/>
              </a:solidFill>
              <a:effectLst/>
            </c:spPr>
          </c:dPt>
          <c:dPt>
            <c:idx val="3"/>
            <c:invertIfNegative val="0"/>
            <c:bubble3D val="0"/>
            <c:spPr>
              <a:solidFill>
                <a:srgbClr val="0C6A4E"/>
              </a:solidFill>
              <a:effectLst/>
            </c:spPr>
          </c:dPt>
          <c:dPt>
            <c:idx val="4"/>
            <c:invertIfNegative val="0"/>
            <c:bubble3D val="0"/>
            <c:spPr>
              <a:solidFill>
                <a:srgbClr val="0C6A4E"/>
              </a:solidFill>
              <a:effectLst/>
            </c:spPr>
          </c:dPt>
          <c:dPt>
            <c:idx val="5"/>
            <c:invertIfNegative val="0"/>
            <c:bubble3D val="0"/>
            <c:spPr>
              <a:solidFill>
                <a:srgbClr val="0B3D2E"/>
              </a:solidFill>
              <a:effectLst/>
            </c:spPr>
          </c:dPt>
          <c:dPt>
            <c:idx val="6"/>
            <c:invertIfNegative val="0"/>
            <c:bubble3D val="0"/>
            <c:spPr>
              <a:solidFill>
                <a:srgbClr val="0B3D2E"/>
              </a:solidFill>
              <a:effectLst/>
            </c:spPr>
          </c:dPt>
          <c:dPt>
            <c:idx val="7"/>
            <c:invertIfNegative val="0"/>
            <c:bubble3D val="0"/>
            <c:spPr>
              <a:solidFill>
                <a:srgbClr val="0B3D2E"/>
              </a:solidFill>
              <a:effectLst/>
            </c:spPr>
          </c:dPt>
          <c:dPt>
            <c:idx val="8"/>
            <c:invertIfNegative val="0"/>
            <c:bubble3D val="0"/>
            <c:spPr>
              <a:solidFill>
                <a:srgbClr val="7A3E9D"/>
              </a:solidFill>
              <a:effectLst/>
            </c:spPr>
          </c:dPt>
          <c:dPt>
            <c:idx val="9"/>
            <c:invertIfNegative val="0"/>
            <c:bubble3D val="0"/>
            <c:spPr>
              <a:solidFill>
                <a:srgbClr val="7A3E9D"/>
              </a:solidFill>
              <a:effectLst/>
            </c:spPr>
          </c:dPt>
          <c:cat>
            <c:multiLvlStrRef>
              <c:f>Sheet1!$A$2:$A$11</c:f>
              <c:multiLvlStrCache>
                <c:ptCount val="10"/>
                <c:lvl>
                  <c:pt idx="0">
                    <c:v>Starter 10k</c:v>
                  </c:pt>
                  <c:pt idx="1">
                    <c:v>Business S</c:v>
                  </c:pt>
                  <c:pt idx="2">
                    <c:v>Business M</c:v>
                  </c:pt>
                  <c:pt idx="3">
                    <c:v>Business L</c:v>
                  </c:pt>
                  <c:pt idx="4">
                    <c:v>Business DR add-on</c:v>
                  </c:pt>
                  <c:pt idx="5">
                    <c:v>Enterprise S</c:v>
                  </c:pt>
                  <c:pt idx="6">
                    <c:v>Enterprise M</c:v>
                  </c:pt>
                  <c:pt idx="7">
                    <c:v>Enterprise L</c:v>
                  </c:pt>
                  <c:pt idx="8">
                    <c:v>Gov HSM vault</c:v>
                  </c:pt>
                  <c:pt idx="9">
                    <c:v>Gov Network Firewall</c:v>
                  </c:pt>
                </c:lvl>
              </c:multiLvlStrCache>
            </c:multiLvlStrRef>
          </c:cat>
          <c:val>
            <c:numRef>
              <c:f>Sheet1!$B$2:$B$11</c:f>
              <c:numCache>
                <c:formatCode>General</c:formatCode>
                <c:ptCount val="10"/>
                <c:pt idx="0">
                  <c:v>0.95</c:v>
                </c:pt>
                <c:pt idx="1">
                  <c:v>0.74</c:v>
                </c:pt>
                <c:pt idx="2">
                  <c:v>0.76</c:v>
                </c:pt>
                <c:pt idx="3">
                  <c:v>0.73</c:v>
                </c:pt>
                <c:pt idx="4">
                  <c:v>0.68</c:v>
                </c:pt>
                <c:pt idx="5">
                  <c:v>0.59</c:v>
                </c:pt>
                <c:pt idx="6">
                  <c:v>0.59</c:v>
                </c:pt>
                <c:pt idx="7">
                  <c:v>0.58</c:v>
                </c:pt>
                <c:pt idx="8">
                  <c:v>0.24</c:v>
                </c:pt>
                <c:pt idx="9">
                  <c:v>0.25</c:v>
                </c:pt>
              </c:numCache>
            </c:numRef>
          </c:val>
        </c:ser>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majorGridlines>
          <c:spPr>
            <a:ln w="9525" cap="flat">
              <a:solidFill>
                <a:srgbClr val="E1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SAR thousand per month</a:t>
            </a:r>
          </a:p>
        </c:rich>
      </c:tx>
      <c:layout/>
      <c:overlay val="0"/>
    </c:title>
    <c:autoTitleDeleted val="0"/>
    <c:plotArea>
      <c:layout/>
      <c:barChart>
        <c:barDir val="col"/>
        <c:grouping val="clustered"/>
        <c:varyColors val="0"/>
        <c:ser>
          <c:idx val="0"/>
          <c:order val="0"/>
          <c:tx>
            <c:strRef>
              <c:f>Sheet1!$B$1</c:f>
              <c:strCache>
                <c:ptCount val="1"/>
                <c:pt idx="0">
                  <c:v>Monthly fixed cost</c:v>
                </c:pt>
              </c:strCache>
            </c:strRef>
          </c:tx>
          <c:spPr>
            <a:solidFill>
              <a:srgbClr val="56645C"/>
            </a:solidFill>
            <a:effectLst/>
          </c:spPr>
          <c:invertIfNegative val="0"/>
          <c:dLbls>
            <c:numFmt formatCode="#,##0.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cat>
            <c:multiLvlStrRef>
              <c:f>Sheet1!$A$2:$A$4</c:f>
              <c:multiLvlStrCache>
                <c:ptCount val="3"/>
                <c:lvl>
                  <c:pt idx="0">
                    <c:v>1. Launch</c:v>
                  </c:pt>
                  <c:pt idx="1">
                    <c:v>2. + 24/7 SOC</c:v>
                  </c:pt>
                  <c:pt idx="2">
                    <c:v>3. + team of 3</c:v>
                  </c:pt>
                </c:lvl>
              </c:multiLvlStrCache>
            </c:multiLvlStrRef>
          </c:cat>
          <c:val>
            <c:numRef>
              <c:f>Sheet1!$B$2:$B$4</c:f>
              <c:numCache>
                <c:formatCode>General</c:formatCode>
                <c:ptCount val="3"/>
                <c:pt idx="0">
                  <c:v>33.2</c:v>
                </c:pt>
                <c:pt idx="1">
                  <c:v>58.2</c:v>
                </c:pt>
                <c:pt idx="2">
                  <c:v>148.2</c:v>
                </c:pt>
              </c:numCache>
            </c:numRef>
          </c:val>
        </c:ser>
        <c:ser>
          <c:idx val="1"/>
          <c:order val="1"/>
          <c:tx>
            <c:strRef>
              <c:f>Sheet1!$C$1</c:f>
              <c:strCache>
                <c:ptCount val="1"/>
                <c:pt idx="0">
                  <c:v>Contribution from example mix</c:v>
                </c:pt>
              </c:strCache>
            </c:strRef>
          </c:tx>
          <c:spPr>
            <a:solidFill>
              <a:srgbClr val="0C6A4E"/>
            </a:solidFill>
            <a:effectLst/>
          </c:spPr>
          <c:invertIfNegative val="0"/>
          <c:dLbls>
            <c:numFmt formatCode="#,##0.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cat>
            <c:multiLvlStrRef>
              <c:f>Sheet1!$A$2:$A$4</c:f>
              <c:multiLvlStrCache>
                <c:ptCount val="3"/>
                <c:lvl>
                  <c:pt idx="0">
                    <c:v>1. Launch</c:v>
                  </c:pt>
                  <c:pt idx="1">
                    <c:v>2. + 24/7 SOC</c:v>
                  </c:pt>
                  <c:pt idx="2">
                    <c:v>3. + team of 3</c:v>
                  </c:pt>
                </c:lvl>
              </c:multiLvlStrCache>
            </c:multiLvlStrRef>
          </c:cat>
          <c:val>
            <c:numRef>
              <c:f>Sheet1!$C$2:$C$4</c:f>
              <c:numCache>
                <c:formatCode>General</c:formatCode>
                <c:ptCount val="3"/>
                <c:pt idx="0">
                  <c:v>34.3</c:v>
                </c:pt>
                <c:pt idx="1">
                  <c:v>60.9</c:v>
                </c:pt>
                <c:pt idx="2">
                  <c:v>148.8</c:v>
                </c:pt>
              </c:numCache>
            </c:numRef>
          </c:val>
        </c:ser>
        <c:dLbls>
          <c:numFmt formatCode="#,##0.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1E8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4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Infrastructure gross margin by AI add-on</a:t>
            </a:r>
          </a:p>
        </c:rich>
      </c:tx>
      <c:layout/>
      <c:overlay val="0"/>
    </c:title>
    <c:autoTitleDeleted val="0"/>
    <c:plotArea>
      <c:layout/>
      <c:barChart>
        <c:barDir val="bar"/>
        <c:grouping val="clustered"/>
        <c:varyColors val="0"/>
        <c:ser>
          <c:idx val="0"/>
          <c:order val="0"/>
          <c:tx>
            <c:strRef>
              <c:f>Sheet1!$B$1</c:f>
              <c:strCache>
                <c:ptCount val="1"/>
                <c:pt idx="0">
                  <c:v>Gross margin</c:v>
                </c:pt>
              </c:strCache>
            </c:strRef>
          </c:tx>
          <c:spPr>
            <a:solidFill>
              <a:srgbClr val="0C6A4E"/>
            </a:solidFill>
            <a:effectLst/>
          </c:spPr>
          <c:invertIfNegative val="0"/>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dPt>
            <c:idx val="0"/>
            <c:invertIfNegative val="0"/>
            <c:bubble3D val="0"/>
            <c:spPr>
              <a:solidFill>
                <a:srgbClr val="0C6A4E"/>
              </a:solidFill>
              <a:effectLst/>
            </c:spPr>
          </c:dPt>
          <c:dPt>
            <c:idx val="1"/>
            <c:invertIfNegative val="0"/>
            <c:bubble3D val="0"/>
            <c:spPr>
              <a:solidFill>
                <a:srgbClr val="0C6A4E"/>
              </a:solidFill>
              <a:effectLst/>
            </c:spPr>
          </c:dPt>
          <c:dPt>
            <c:idx val="2"/>
            <c:invertIfNegative val="0"/>
            <c:bubble3D val="0"/>
            <c:spPr>
              <a:solidFill>
                <a:srgbClr val="0C6A4E"/>
              </a:solidFill>
              <a:effectLst/>
            </c:spPr>
          </c:dPt>
          <c:dPt>
            <c:idx val="3"/>
            <c:invertIfNegative val="0"/>
            <c:bubble3D val="0"/>
            <c:spPr>
              <a:solidFill>
                <a:srgbClr val="0B3D2E"/>
              </a:solidFill>
              <a:effectLst/>
            </c:spPr>
          </c:dPt>
          <c:dPt>
            <c:idx val="4"/>
            <c:invertIfNegative val="0"/>
            <c:bubble3D val="0"/>
            <c:spPr>
              <a:solidFill>
                <a:srgbClr val="B26B00"/>
              </a:solidFill>
              <a:effectLst/>
            </c:spPr>
          </c:dPt>
          <c:dPt>
            <c:idx val="5"/>
            <c:invertIfNegative val="0"/>
            <c:bubble3D val="0"/>
            <c:spPr>
              <a:solidFill>
                <a:srgbClr val="7A3E9D"/>
              </a:solidFill>
              <a:effectLst/>
            </c:spPr>
          </c:dPt>
          <c:cat>
            <c:multiLvlStrRef>
              <c:f>Sheet1!$A$2:$A$7</c:f>
              <c:multiLvlStrCache>
                <c:ptCount val="6"/>
                <c:lvl>
                  <c:pt idx="0">
                    <c:v>Protect, Starter 10k</c:v>
                  </c:pt>
                  <c:pt idx="1">
                    <c:v>Protect, Business S</c:v>
                  </c:pt>
                  <c:pt idx="2">
                    <c:v>Protect, Business L</c:v>
                  </c:pt>
                  <c:pt idx="3">
                    <c:v>Protect, Enterprise S</c:v>
                  </c:pt>
                  <c:pt idx="4">
                    <c:v>Assist, extra 100 requests</c:v>
                  </c:pt>
                  <c:pt idx="5">
                    <c:v>Agent Pack</c:v>
                  </c:pt>
                </c:lvl>
              </c:multiLvlStrCache>
            </c:multiLvlStrRef>
          </c:cat>
          <c:val>
            <c:numRef>
              <c:f>Sheet1!$B$2:$B$7</c:f>
              <c:numCache>
                <c:formatCode>General</c:formatCode>
                <c:ptCount val="6"/>
                <c:pt idx="0">
                  <c:v>0.93</c:v>
                </c:pt>
                <c:pt idx="1">
                  <c:v>0.96</c:v>
                </c:pt>
                <c:pt idx="2">
                  <c:v>0.96</c:v>
                </c:pt>
                <c:pt idx="3">
                  <c:v>0.61</c:v>
                </c:pt>
                <c:pt idx="4">
                  <c:v>0.63</c:v>
                </c:pt>
                <c:pt idx="5">
                  <c:v>0.98</c:v>
                </c:pt>
              </c:numCache>
            </c:numRef>
          </c:val>
        </c:ser>
        <c:dLbls>
          <c:numFmt formatCode="0%" sourceLinked="0"/>
          <c:txPr>
            <a:bodyPr/>
            <a:lstStyle/>
            <a:p>
              <a:pPr>
                <a:defRPr b="0" i="0" strike="noStrike" sz="1200" u="none">
                  <a:solidFill>
                    <a:srgbClr val="16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45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majorGridlines>
          <c:spPr>
            <a:ln w="9525" cap="flat">
              <a:solidFill>
                <a:srgbClr val="E1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the first price book and the cost plan behind it. All numbers come from the cost model in the repo (OCI list prices, no discounts, VAT excluded, USD 1 = SAR 3.75). Draft: some third-party costs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break-even example: 10 Business M plus 25 Starter 10k customers cover SAR 33k a month of fixed cost (infrastructure, pentests, ISO, tools). Salaries are not included; with a team of three the number rises to about SAR 148k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is priced per MAU because many realms share one Keycloak. Business and Enterprise are priced per instance because our cost is CPU and memory, not users; customers also prefer predictable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prices from the KSA competitor analysis (research date 7 October 2026): OCI IAM External User USD 0.016 per user per month; Yookey EUR 390; Auth0 about USD 700 (secondary source). Converted at USD 3.75 and EUR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Ping PingOne for Customers Essential: USD 35k a year (SAR 131,250). Skycloak, Phase Two and Cloud-IAM prices from their public pages as captured in the competitor analysis; sizing differs between vendors, so this is an anchor, not a like-for-like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sizes are capacity-based: 1 vCPU per 15 password logins per second with 150% headroom, from the Keycloak sizing guide. Token refreshes and client-credential grants are about 8 times cheaper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options at Oracle list price: private vault USD 2,719 a month, Network Firewall USD 2,008, FastConnect 1 Gbps port USD 155. All three together cost SAR 18,304 a month. Steer customers to BYOK and the shared hub firewall where their regulator allows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Nafath and Yakeen credentials are issued to the end organisation by Elm, so Zimam sells the integration, not the data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Managed-first rule: if OCI runs it in both Saudi regions and it meets the requirement, we use it. What we save is operations work (patching, HA, backups, audit evidence), which matters more than invoice cost for a team of one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OCI pay-as-you-go list prices from Oracle's public price API, retrieved 7 October 2026; same price in every commercial region. Free tiers ignored. PostgreSQL memory and HA-replica billing are not published; the model assumes both nodes are billed at compute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 margin here is price minus OCI infrastructure cost only. Support staff, the SOC partner and certifications sit in fixed cost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cost: infrastructure SAR 11.7k plus placeholders for pentests (SAR 10k a month), ISO 27001 (7.5k), ZATCA provider, insurance and tools (4k). SOC partner placeholder SAR 25k. Team placeholder SAR 30k per person fully loaded. Replace placeholders with quotes. Rule: do not sign the SOC partner before the first Enterprise or Gov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Levers 3 and 2 depend on load tests; lever 1 needs about six months of spend history; levers 5 and 6 come up in the first Gov sales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dates are in docs/product/ai-strategy.md section 3 (research date 8 October 2026). Okta ITP, Ping Protect and Auth0 Bot Detection prices are sales-quoted. Oracle's Adaptive Security is the only in-Kingdom risk engine we found, and it is rule-based.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included at no charge: an admin MCP server (customers bring their own AI client, so no LLM cost to us and residency is their choice) and an AI login-theme generator (about SAR 0.35 per theme). Rule: an LLM never makes the allow or deny decision at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cost_model.py. Starter and Business Protect costs assume 60 subscribers per pooled cell. Assist costs SAR 0.28 a request at the OCI "Large Cohere" on-demand price, which still has to be confirmed for Command A in Riyadh. Enterprise margins include the full Assist quota of 1,000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check (7 October 2026): zimam.com (since 2005, parked), zimam.sa and zimam.com.sa (Saudi companies), zimam.io, zimam.co, zimam.me, zimam.ai (regional AI commerce analytics), getzimam.com (Saudi COD e-commerce) and zimam.dev (open-source AI agent governance) are taken. Available: zimamid.com, zimamid.sa, zimamcloud.com, zimamcloud.sa, zimamidentity.com, usezimam.com.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confirming owners and dates for the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D2E"/>
        </a:solidFill>
      </p:bgPr>
    </p:bg>
    <p:spTree>
      <p:nvGrpSpPr>
        <p:cNvPr id="1" name=""/>
        <p:cNvGrpSpPr/>
        <p:nvPr/>
      </p:nvGrpSpPr>
      <p:grpSpPr>
        <a:xfrm>
          <a:off x="0" y="0"/>
          <a:ext cx="0" cy="0"/>
          <a:chOff x="0" y="0"/>
          <a:chExt cx="0" cy="0"/>
        </a:xfrm>
      </p:grpSpPr>
      <p:sp>
        <p:nvSpPr>
          <p:cNvPr id="2" name="Text 0"/>
          <p:cNvSpPr/>
          <p:nvPr/>
        </p:nvSpPr>
        <p:spPr>
          <a:xfrm>
            <a:off x="7589520" y="1097280"/>
            <a:ext cx="4023360" cy="2926080"/>
          </a:xfrm>
          <a:prstGeom prst="rect">
            <a:avLst/>
          </a:prstGeom>
          <a:noFill/>
          <a:ln/>
        </p:spPr>
        <p:txBody>
          <a:bodyPr wrap="square" lIns="0" tIns="0" rIns="0" bIns="0" rtlCol="0" anchor="ctr"/>
          <a:lstStyle/>
          <a:p>
            <a:pPr algn="r" indent="0" marL="0">
              <a:buNone/>
            </a:pPr>
            <a:r>
              <a:rPr lang="en-US" sz="15000" b="1" dirty="0">
                <a:solidFill>
                  <a:schemeClr val="accent1"/>
                </a:solidFill>
                <a:latin typeface="Arial" pitchFamily="34" charset="0"/>
                <a:ea typeface="Arial" pitchFamily="34" charset="-122"/>
                <a:cs typeface="Arial" pitchFamily="34" charset="-120"/>
              </a:rPr>
              <a:t>زمام</a:t>
            </a:r>
            <a:endParaRPr lang="en-US" sz="1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_PH">
    <p:bg>
      <p:bgPr>
        <a:solidFill>
          <a:srgbClr val="0B3D2E"/>
        </a:solidFill>
      </p:bgPr>
    </p:bg>
    <p:spTree>
      <p:nvGrpSpPr>
        <p:cNvPr id="1" name=""/>
        <p:cNvGrpSpPr/>
        <p:nvPr/>
      </p:nvGrpSpPr>
      <p:grpSpPr>
        <a:xfrm>
          <a:off x="0" y="0"/>
          <a:ext cx="0" cy="0"/>
          <a:chOff x="0" y="0"/>
          <a:chExt cx="0" cy="0"/>
        </a:xfrm>
      </p:grpSpPr>
      <p:sp>
        <p:nvSpPr>
          <p:cNvPr id="2" name="Text 0"/>
          <p:cNvSpPr/>
          <p:nvPr/>
        </p:nvSpPr>
        <p:spPr>
          <a:xfrm>
            <a:off x="7589520" y="914400"/>
            <a:ext cx="4023360" cy="2926080"/>
          </a:xfrm>
          <a:prstGeom prst="rect">
            <a:avLst/>
          </a:prstGeom>
          <a:noFill/>
          <a:ln/>
        </p:spPr>
        <p:txBody>
          <a:bodyPr wrap="square" lIns="0" tIns="0" rIns="0" bIns="0" rtlCol="0" anchor="ctr"/>
          <a:lstStyle/>
          <a:p>
            <a:pPr algn="r" indent="0" marL="0">
              <a:buNone/>
            </a:pPr>
            <a:r>
              <a:rPr lang="en-US" sz="15000" b="1" dirty="0">
                <a:solidFill>
                  <a:schemeClr val="accent1"/>
                </a:solidFill>
                <a:latin typeface="Arial" pitchFamily="34" charset="0"/>
                <a:ea typeface="Arial" pitchFamily="34" charset="-122"/>
                <a:cs typeface="Arial" pitchFamily="34" charset="-120"/>
              </a:rPr>
              <a:t>زمام</a:t>
            </a:r>
            <a:endParaRPr lang="en-US" sz="15000" dirty="0"/>
          </a:p>
        </p:txBody>
      </p:sp>
      <p:sp>
        <p:nvSpPr>
          <p:cNvPr id="3" name="Text 1"/>
          <p:cNvSpPr/>
          <p:nvPr>
            <p:ph idx="101" type="title" hasCustomPrompt="1"/>
          </p:nvPr>
        </p:nvSpPr>
        <p:spPr>
          <a:xfrm>
            <a:off x="731520" y="2011680"/>
            <a:ext cx="786384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3657600"/>
            <a:ext cx="7863840" cy="12801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8686800" cy="274320"/>
          </a:xfrm>
          <a:prstGeom prst="rect">
            <a:avLst/>
          </a:prstGeom>
          <a:noFill/>
          <a:ln/>
        </p:spPr>
        <p:txBody>
          <a:bodyPr wrap="square" lIns="0" tIns="0" rIns="0" bIns="0" rtlCol="0" anchor="ctr"/>
          <a:lstStyle/>
          <a:p>
            <a:pPr indent="0" marL="0">
              <a:buNone/>
            </a:pPr>
            <a:r>
              <a:rPr lang="en-US" sz="1000" dirty="0">
                <a:solidFill>
                  <a:schemeClr val="accent5"/>
                </a:solidFill>
              </a:rPr>
              <a:t>Zimam · Pricing and unit economics · Draft for discussion · Confidential</a:t>
            </a:r>
            <a:endParaRPr lang="en-US" sz="1000" dirty="0"/>
          </a:p>
        </p:txBody>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4.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7863840" cy="1463040"/>
          </a:xfrm>
          <a:prstGeom prst="rect">
            <a:avLst/>
          </a:prstGeom>
          <a:noFill/>
          <a:ln/>
        </p:spPr>
        <p:txBody>
          <a:bodyPr wrap="square" lIns="0" tIns="0" rIns="0" bIns="0" rtlCol="0" anchor="b"/>
          <a:lstStyle/>
          <a:p>
            <a:pPr algn="l" indent="0" marL="0">
              <a:buNone/>
            </a:pPr>
            <a:r>
              <a:rPr lang="en-US" sz="4400" b="1" dirty="0">
                <a:solidFill>
                  <a:schemeClr val="bg1"/>
                </a:solidFill>
              </a:rPr>
              <a:t>Pricing and unit economics</a:t>
            </a:r>
            <a:endParaRPr lang="en-US" sz="4400" dirty="0"/>
          </a:p>
        </p:txBody>
      </p:sp>
      <p:sp>
        <p:nvSpPr>
          <p:cNvPr id="3" name="Text 1"/>
          <p:cNvSpPr/>
          <p:nvPr>
            <p:ph idx="102" type="body" hasCustomPrompt="1"/>
          </p:nvPr>
        </p:nvSpPr>
        <p:spPr>
          <a:xfrm>
            <a:off x="731520" y="3657600"/>
            <a:ext cx="7863840" cy="1280160"/>
          </a:xfrm>
          <a:prstGeom prst="rect">
            <a:avLst/>
          </a:prstGeom>
          <a:noFill/>
          <a:ln/>
        </p:spPr>
        <p:txBody>
          <a:bodyPr wrap="square" lIns="0" tIns="0" rIns="0" bIns="0" rtlCol="0" anchor="t"/>
          <a:lstStyle/>
          <a:p>
            <a:pPr algn="l" indent="0" marL="0">
              <a:buNone/>
            </a:pPr>
            <a:r>
              <a:rPr lang="en-US" sz="2000" dirty="0">
                <a:solidFill>
                  <a:schemeClr val="accent6"/>
                </a:solidFill>
              </a:rPr>
              <a:t>Zimam Identity Cloud, powered by Keycloak</a:t>
            </a:r>
            <a:endParaRPr lang="en-US" sz="2000" dirty="0"/>
          </a:p>
          <a:p>
            <a:pPr algn="l" indent="0" marL="0">
              <a:buNone/>
            </a:pPr>
            <a:r>
              <a:rPr lang="en-US" sz="2000" dirty="0">
                <a:solidFill>
                  <a:schemeClr val="accent6"/>
                </a:solidFill>
              </a:rPr>
              <a:t>OCI Riyadh and Jeddah · Stakeholder review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Breaks even at launch with about 35 customers</a:t>
            </a:r>
            <a:endParaRPr lang="en-US" sz="3400" dirty="0"/>
          </a:p>
        </p:txBody>
      </p:sp>
      <p:sp>
        <p:nvSpPr>
          <p:cNvPr id="3" name="stat 1"/>
          <p:cNvSpPr/>
          <p:nvPr/>
        </p:nvSpPr>
        <p:spPr>
          <a:xfrm>
            <a:off x="548640" y="1463040"/>
            <a:ext cx="2606040" cy="2286000"/>
          </a:xfrm>
          <a:prstGeom prst="roundRect">
            <a:avLst>
              <a:gd name="adj" fmla="val 3200"/>
            </a:avLst>
          </a:prstGeom>
          <a:solidFill>
            <a:schemeClr val="bg2"/>
          </a:solidFill>
          <a:ln/>
        </p:spPr>
      </p:sp>
      <p:sp>
        <p:nvSpPr>
          <p:cNvPr id="4" name="badge LuServer"/>
          <p:cNvSpPr/>
          <p:nvPr/>
        </p:nvSpPr>
        <p:spPr>
          <a:xfrm>
            <a:off x="822960" y="1691640"/>
            <a:ext cx="548640" cy="548640"/>
          </a:xfrm>
          <a:prstGeom prst="ellipse">
            <a:avLst/>
          </a:prstGeom>
          <a:solidFill>
            <a:schemeClr val="bg1"/>
          </a:solidFill>
          <a:ln/>
        </p:spPr>
      </p:sp>
      <p:pic>
        <p:nvPicPr>
          <p:cNvPr id="5" name="icon LuServer" descr="preencoded.png">    </p:cNvPr>
          <p:cNvPicPr>
            <a:picLocks noChangeAspect="1"/>
          </p:cNvPicPr>
          <p:nvPr/>
        </p:nvPicPr>
        <p:blipFill>
          <a:blip r:embed="rId1"/>
          <a:stretch>
            <a:fillRect/>
          </a:stretch>
        </p:blipFill>
        <p:spPr>
          <a:xfrm>
            <a:off x="954634" y="1823314"/>
            <a:ext cx="285293" cy="285293"/>
          </a:xfrm>
          <a:prstGeom prst="rect">
            <a:avLst/>
          </a:prstGeom>
        </p:spPr>
      </p:pic>
      <p:sp>
        <p:nvSpPr>
          <p:cNvPr id="6" name="Text 3"/>
          <p:cNvSpPr txBox="1"/>
          <p:nvPr/>
        </p:nvSpPr>
        <p:spPr>
          <a:xfrm>
            <a:off x="822960" y="237744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SAR 11.7k</a:t>
            </a:r>
            <a:endParaRPr lang="en-US" sz="3200" dirty="0"/>
          </a:p>
        </p:txBody>
      </p:sp>
      <p:sp>
        <p:nvSpPr>
          <p:cNvPr id="7" name="Text 4"/>
          <p:cNvSpPr txBox="1"/>
          <p:nvPr/>
        </p:nvSpPr>
        <p:spPr>
          <a:xfrm>
            <a:off x="822960" y="3017520"/>
            <a:ext cx="2194560" cy="640080"/>
          </a:xfrm>
          <a:prstGeom prst="rect">
            <a:avLst/>
          </a:prstGeom>
          <a:noFill/>
          <a:ln/>
        </p:spPr>
        <p:txBody>
          <a:bodyPr wrap="square" lIns="0" tIns="0" rIns="0" bIns="0" rtlCol="0" anchor="t"/>
          <a:lstStyle/>
          <a:p>
            <a:pPr indent="0" marL="0">
              <a:buNone/>
            </a:pPr>
            <a:r>
              <a:rPr lang="en-US" sz="1400" dirty="0">
                <a:solidFill>
                  <a:schemeClr val="accent5"/>
                </a:solidFill>
              </a:rPr>
              <a:t>OCI infrastructure per month at launch</a:t>
            </a:r>
            <a:endParaRPr lang="en-US" sz="1400" dirty="0"/>
          </a:p>
        </p:txBody>
      </p:sp>
      <p:sp>
        <p:nvSpPr>
          <p:cNvPr id="8" name="stat 2"/>
          <p:cNvSpPr/>
          <p:nvPr/>
        </p:nvSpPr>
        <p:spPr>
          <a:xfrm>
            <a:off x="3383280" y="1463040"/>
            <a:ext cx="2606040" cy="2286000"/>
          </a:xfrm>
          <a:prstGeom prst="roundRect">
            <a:avLst>
              <a:gd name="adj" fmla="val 3200"/>
            </a:avLst>
          </a:prstGeom>
          <a:solidFill>
            <a:schemeClr val="bg2"/>
          </a:solidFill>
          <a:ln/>
        </p:spPr>
      </p:sp>
      <p:sp>
        <p:nvSpPr>
          <p:cNvPr id="9" name="badge LuTrendingUp"/>
          <p:cNvSpPr/>
          <p:nvPr/>
        </p:nvSpPr>
        <p:spPr>
          <a:xfrm>
            <a:off x="3657600" y="1691640"/>
            <a:ext cx="548640" cy="548640"/>
          </a:xfrm>
          <a:prstGeom prst="ellipse">
            <a:avLst/>
          </a:prstGeom>
          <a:solidFill>
            <a:schemeClr val="bg1"/>
          </a:solidFill>
          <a:ln/>
        </p:spPr>
      </p:sp>
      <p:pic>
        <p:nvPicPr>
          <p:cNvPr id="10" name="icon LuTrendingUp" descr="preencoded.png">    </p:cNvPr>
          <p:cNvPicPr>
            <a:picLocks noChangeAspect="1"/>
          </p:cNvPicPr>
          <p:nvPr/>
        </p:nvPicPr>
        <p:blipFill>
          <a:blip r:embed="rId2"/>
          <a:stretch>
            <a:fillRect/>
          </a:stretch>
        </p:blipFill>
        <p:spPr>
          <a:xfrm>
            <a:off x="3789274" y="1823314"/>
            <a:ext cx="285293" cy="285293"/>
          </a:xfrm>
          <a:prstGeom prst="rect">
            <a:avLst/>
          </a:prstGeom>
        </p:spPr>
      </p:pic>
      <p:sp>
        <p:nvSpPr>
          <p:cNvPr id="11" name="Text 7"/>
          <p:cNvSpPr txBox="1"/>
          <p:nvPr/>
        </p:nvSpPr>
        <p:spPr>
          <a:xfrm>
            <a:off x="3657600" y="237744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73–76%</a:t>
            </a:r>
            <a:endParaRPr lang="en-US" sz="3200" dirty="0"/>
          </a:p>
        </p:txBody>
      </p:sp>
      <p:sp>
        <p:nvSpPr>
          <p:cNvPr id="12" name="Text 8"/>
          <p:cNvSpPr txBox="1"/>
          <p:nvPr/>
        </p:nvSpPr>
        <p:spPr>
          <a:xfrm>
            <a:off x="3657600" y="3017520"/>
            <a:ext cx="2194560" cy="640080"/>
          </a:xfrm>
          <a:prstGeom prst="rect">
            <a:avLst/>
          </a:prstGeom>
          <a:noFill/>
          <a:ln/>
        </p:spPr>
        <p:txBody>
          <a:bodyPr wrap="square" lIns="0" tIns="0" rIns="0" bIns="0" rtlCol="0" anchor="t"/>
          <a:lstStyle/>
          <a:p>
            <a:pPr indent="0" marL="0">
              <a:buNone/>
            </a:pPr>
            <a:r>
              <a:rPr lang="en-US" sz="1400" dirty="0">
                <a:solidFill>
                  <a:schemeClr val="accent5"/>
                </a:solidFill>
              </a:rPr>
              <a:t>Business tier gross margin</a:t>
            </a:r>
            <a:endParaRPr lang="en-US" sz="1400" dirty="0"/>
          </a:p>
        </p:txBody>
      </p:sp>
      <p:sp>
        <p:nvSpPr>
          <p:cNvPr id="13" name="stat 3"/>
          <p:cNvSpPr/>
          <p:nvPr/>
        </p:nvSpPr>
        <p:spPr>
          <a:xfrm>
            <a:off x="6217920" y="1463040"/>
            <a:ext cx="2606040" cy="2286000"/>
          </a:xfrm>
          <a:prstGeom prst="roundRect">
            <a:avLst>
              <a:gd name="adj" fmla="val 3200"/>
            </a:avLst>
          </a:prstGeom>
          <a:solidFill>
            <a:schemeClr val="bg2"/>
          </a:solidFill>
          <a:ln/>
        </p:spPr>
      </p:sp>
      <p:sp>
        <p:nvSpPr>
          <p:cNvPr id="14" name="badge LuLandmark"/>
          <p:cNvSpPr/>
          <p:nvPr/>
        </p:nvSpPr>
        <p:spPr>
          <a:xfrm>
            <a:off x="6492240" y="1691640"/>
            <a:ext cx="548640" cy="548640"/>
          </a:xfrm>
          <a:prstGeom prst="ellipse">
            <a:avLst/>
          </a:prstGeom>
          <a:solidFill>
            <a:schemeClr val="bg1"/>
          </a:solidFill>
          <a:ln/>
        </p:spPr>
      </p:sp>
      <p:pic>
        <p:nvPicPr>
          <p:cNvPr id="15" name="icon LuLandmark" descr="preencoded.png">    </p:cNvPr>
          <p:cNvPicPr>
            <a:picLocks noChangeAspect="1"/>
          </p:cNvPicPr>
          <p:nvPr/>
        </p:nvPicPr>
        <p:blipFill>
          <a:blip r:embed="rId3"/>
          <a:stretch>
            <a:fillRect/>
          </a:stretch>
        </p:blipFill>
        <p:spPr>
          <a:xfrm>
            <a:off x="6623914" y="1823314"/>
            <a:ext cx="285293" cy="285293"/>
          </a:xfrm>
          <a:prstGeom prst="rect">
            <a:avLst/>
          </a:prstGeom>
        </p:spPr>
      </p:pic>
      <p:sp>
        <p:nvSpPr>
          <p:cNvPr id="16" name="Text 11"/>
          <p:cNvSpPr txBox="1"/>
          <p:nvPr/>
        </p:nvSpPr>
        <p:spPr>
          <a:xfrm>
            <a:off x="6492240" y="237744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~59%</a:t>
            </a:r>
            <a:endParaRPr lang="en-US" sz="3200" dirty="0"/>
          </a:p>
        </p:txBody>
      </p:sp>
      <p:sp>
        <p:nvSpPr>
          <p:cNvPr id="17" name="Text 12"/>
          <p:cNvSpPr txBox="1"/>
          <p:nvPr/>
        </p:nvSpPr>
        <p:spPr>
          <a:xfrm>
            <a:off x="6492240" y="3017520"/>
            <a:ext cx="2194560" cy="640080"/>
          </a:xfrm>
          <a:prstGeom prst="rect">
            <a:avLst/>
          </a:prstGeom>
          <a:noFill/>
          <a:ln/>
        </p:spPr>
        <p:txBody>
          <a:bodyPr wrap="square" lIns="0" tIns="0" rIns="0" bIns="0" rtlCol="0" anchor="t"/>
          <a:lstStyle/>
          <a:p>
            <a:pPr indent="0" marL="0">
              <a:buNone/>
            </a:pPr>
            <a:r>
              <a:rPr lang="en-US" sz="1400" dirty="0">
                <a:solidFill>
                  <a:schemeClr val="accent5"/>
                </a:solidFill>
              </a:rPr>
              <a:t>Enterprise margin, Jeddah DR included</a:t>
            </a:r>
            <a:endParaRPr lang="en-US" sz="1400" dirty="0"/>
          </a:p>
        </p:txBody>
      </p:sp>
      <p:sp>
        <p:nvSpPr>
          <p:cNvPr id="18" name="stat 4"/>
          <p:cNvSpPr/>
          <p:nvPr/>
        </p:nvSpPr>
        <p:spPr>
          <a:xfrm>
            <a:off x="9052560" y="1463040"/>
            <a:ext cx="2606040" cy="2286000"/>
          </a:xfrm>
          <a:prstGeom prst="roundRect">
            <a:avLst>
              <a:gd name="adj" fmla="val 3200"/>
            </a:avLst>
          </a:prstGeom>
          <a:solidFill>
            <a:schemeClr val="bg2"/>
          </a:solidFill>
          <a:ln/>
        </p:spPr>
      </p:sp>
      <p:sp>
        <p:nvSpPr>
          <p:cNvPr id="19" name="badge LuWallet"/>
          <p:cNvSpPr/>
          <p:nvPr/>
        </p:nvSpPr>
        <p:spPr>
          <a:xfrm>
            <a:off x="9326880" y="1691640"/>
            <a:ext cx="548640" cy="548640"/>
          </a:xfrm>
          <a:prstGeom prst="ellipse">
            <a:avLst/>
          </a:prstGeom>
          <a:solidFill>
            <a:schemeClr val="bg1"/>
          </a:solidFill>
          <a:ln/>
        </p:spPr>
      </p:sp>
      <p:pic>
        <p:nvPicPr>
          <p:cNvPr id="20" name="icon LuWallet" descr="preencoded.png">    </p:cNvPr>
          <p:cNvPicPr>
            <a:picLocks noChangeAspect="1"/>
          </p:cNvPicPr>
          <p:nvPr/>
        </p:nvPicPr>
        <p:blipFill>
          <a:blip r:embed="rId4"/>
          <a:stretch>
            <a:fillRect/>
          </a:stretch>
        </p:blipFill>
        <p:spPr>
          <a:xfrm>
            <a:off x="9458554" y="1823314"/>
            <a:ext cx="285293" cy="285293"/>
          </a:xfrm>
          <a:prstGeom prst="rect">
            <a:avLst/>
          </a:prstGeom>
        </p:spPr>
      </p:pic>
      <p:sp>
        <p:nvSpPr>
          <p:cNvPr id="21" name="Text 15"/>
          <p:cNvSpPr txBox="1"/>
          <p:nvPr/>
        </p:nvSpPr>
        <p:spPr>
          <a:xfrm>
            <a:off x="9326880" y="237744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SAR 33k</a:t>
            </a:r>
            <a:endParaRPr lang="en-US" sz="3200" dirty="0"/>
          </a:p>
        </p:txBody>
      </p:sp>
      <p:sp>
        <p:nvSpPr>
          <p:cNvPr id="22" name="Text 16"/>
          <p:cNvSpPr txBox="1"/>
          <p:nvPr/>
        </p:nvSpPr>
        <p:spPr>
          <a:xfrm>
            <a:off x="9326880" y="3017520"/>
            <a:ext cx="2194560" cy="640080"/>
          </a:xfrm>
          <a:prstGeom prst="rect">
            <a:avLst/>
          </a:prstGeom>
          <a:noFill/>
          <a:ln/>
        </p:spPr>
        <p:txBody>
          <a:bodyPr wrap="square" lIns="0" tIns="0" rIns="0" bIns="0" rtlCol="0" anchor="t"/>
          <a:lstStyle/>
          <a:p>
            <a:pPr indent="0" marL="0">
              <a:buNone/>
            </a:pPr>
            <a:r>
              <a:rPr lang="en-US" sz="1400" dirty="0">
                <a:solidFill>
                  <a:schemeClr val="accent5"/>
                </a:solidFill>
              </a:rPr>
              <a:t>Monthly fixed cost at launch, before salaries</a:t>
            </a:r>
            <a:endParaRPr lang="en-US" sz="1400" dirty="0"/>
          </a:p>
        </p:txBody>
      </p:sp>
      <p:sp>
        <p:nvSpPr>
          <p:cNvPr id="23" name="decision box"/>
          <p:cNvSpPr/>
          <p:nvPr/>
        </p:nvSpPr>
        <p:spPr>
          <a:xfrm>
            <a:off x="548640" y="4023360"/>
            <a:ext cx="11064240" cy="1828800"/>
          </a:xfrm>
          <a:prstGeom prst="roundRect">
            <a:avLst>
              <a:gd name="adj" fmla="val 4000"/>
            </a:avLst>
          </a:prstGeom>
          <a:solidFill>
            <a:schemeClr val="bg1"/>
          </a:solidFill>
          <a:ln w="12700">
            <a:solidFill>
              <a:schemeClr val="accent6"/>
            </a:solidFill>
            <a:prstDash val="solid"/>
          </a:ln>
        </p:spPr>
      </p:sp>
      <p:sp>
        <p:nvSpPr>
          <p:cNvPr id="24" name="Text 18"/>
          <p:cNvSpPr txBox="1"/>
          <p:nvPr/>
        </p:nvSpPr>
        <p:spPr>
          <a:xfrm>
            <a:off x="822960" y="4206240"/>
            <a:ext cx="457200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What we ask today</a:t>
            </a:r>
            <a:endParaRPr lang="en-US" sz="2000" dirty="0"/>
          </a:p>
        </p:txBody>
      </p:sp>
      <p:sp>
        <p:nvSpPr>
          <p:cNvPr id="25" name="Text 19"/>
          <p:cNvSpPr txBox="1"/>
          <p:nvPr/>
        </p:nvSpPr>
        <p:spPr>
          <a:xfrm>
            <a:off x="822960" y="4663440"/>
            <a:ext cx="1051560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Approve the SAR price book as v1, to publish once the open items are settled</a:t>
            </a:r>
            <a:endParaRPr lang="en-US" sz="1500" dirty="0"/>
          </a:p>
          <a:p>
            <a:pPr marL="342900" indent="-342900">
              <a:spcAft>
                <a:spcPts val="600"/>
              </a:spcAft>
              <a:buSzPct val="100000"/>
              <a:buChar char="•"/>
            </a:pPr>
            <a:r>
              <a:rPr lang="en-US" sz="1500" dirty="0">
                <a:solidFill>
                  <a:schemeClr val="tx1"/>
                </a:solidFill>
              </a:rPr>
              <a:t>Approve the phased cost plan: 24/7 SOC partner only after the first Enterprise contract</a:t>
            </a:r>
            <a:endParaRPr lang="en-US" sz="1500" dirty="0"/>
          </a:p>
          <a:p>
            <a:pPr marL="342900" indent="-342900">
              <a:spcAft>
                <a:spcPts val="600"/>
              </a:spcAft>
              <a:buSzPct val="100000"/>
              <a:buChar char="•"/>
            </a:pPr>
            <a:r>
              <a:rPr lang="en-US" sz="1500" dirty="0">
                <a:solidFill>
                  <a:schemeClr val="tx1"/>
                </a:solidFill>
              </a:rPr>
              <a:t>Start the open items: Oracle pricing call, third-party quotes, load tests, trademark search</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Three tiers, priced the way they cost us</a:t>
            </a:r>
            <a:endParaRPr lang="en-US" sz="3400" dirty="0"/>
          </a:p>
        </p:txBody>
      </p:sp>
      <p:sp>
        <p:nvSpPr>
          <p:cNvPr id="3" name="tier Starter"/>
          <p:cNvSpPr/>
          <p:nvPr/>
        </p:nvSpPr>
        <p:spPr>
          <a:xfrm>
            <a:off x="548640" y="1463040"/>
            <a:ext cx="3520440" cy="4572000"/>
          </a:xfrm>
          <a:prstGeom prst="roundRect">
            <a:avLst>
              <a:gd name="adj" fmla="val 2078"/>
            </a:avLst>
          </a:prstGeom>
          <a:solidFill>
            <a:schemeClr val="bg2"/>
          </a:solidFill>
          <a:ln/>
        </p:spPr>
      </p:sp>
      <p:sp>
        <p:nvSpPr>
          <p:cNvPr id="4" name="badge LuUsers"/>
          <p:cNvSpPr/>
          <p:nvPr/>
        </p:nvSpPr>
        <p:spPr>
          <a:xfrm>
            <a:off x="868680" y="1737360"/>
            <a:ext cx="640080" cy="640080"/>
          </a:xfrm>
          <a:prstGeom prst="ellipse">
            <a:avLst/>
          </a:prstGeom>
          <a:solidFill>
            <a:schemeClr val="bg1"/>
          </a:solidFill>
          <a:ln/>
        </p:spPr>
      </p:sp>
      <p:pic>
        <p:nvPicPr>
          <p:cNvPr id="5" name="icon LuUsers" descr="preencoded.png">    </p:cNvPr>
          <p:cNvPicPr>
            <a:picLocks noChangeAspect="1"/>
          </p:cNvPicPr>
          <p:nvPr/>
        </p:nvPicPr>
        <p:blipFill>
          <a:blip r:embed="rId1"/>
          <a:stretch>
            <a:fillRect/>
          </a:stretch>
        </p:blipFill>
        <p:spPr>
          <a:xfrm>
            <a:off x="1022299" y="1890979"/>
            <a:ext cx="332842" cy="332842"/>
          </a:xfrm>
          <a:prstGeom prst="rect">
            <a:avLst/>
          </a:prstGeom>
        </p:spPr>
      </p:pic>
      <p:sp>
        <p:nvSpPr>
          <p:cNvPr id="6" name="Text 3"/>
          <p:cNvSpPr txBox="1"/>
          <p:nvPr/>
        </p:nvSpPr>
        <p:spPr>
          <a:xfrm>
            <a:off x="86868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Starter</a:t>
            </a:r>
            <a:endParaRPr lang="en-US" sz="2400" dirty="0"/>
          </a:p>
        </p:txBody>
      </p:sp>
      <p:sp>
        <p:nvSpPr>
          <p:cNvPr id="7" name="Text 4"/>
          <p:cNvSpPr txBox="1"/>
          <p:nvPr/>
        </p:nvSpPr>
        <p:spPr>
          <a:xfrm>
            <a:off x="868680" y="306324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Free to SAR 1,690</a:t>
            </a:r>
            <a:endParaRPr lang="en-US" sz="2000" dirty="0"/>
          </a:p>
        </p:txBody>
      </p:sp>
      <p:sp>
        <p:nvSpPr>
          <p:cNvPr id="8" name="Text 5"/>
          <p:cNvSpPr txBox="1"/>
          <p:nvPr/>
        </p:nvSpPr>
        <p:spPr>
          <a:xfrm>
            <a:off x="868680" y="347472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per month, excluding VAT</a:t>
            </a:r>
            <a:endParaRPr lang="en-US" sz="1200" dirty="0"/>
          </a:p>
        </p:txBody>
      </p:sp>
      <p:sp>
        <p:nvSpPr>
          <p:cNvPr id="9" name="Text 6"/>
          <p:cNvSpPr txBox="1"/>
          <p:nvPr/>
        </p:nvSpPr>
        <p:spPr>
          <a:xfrm>
            <a:off x="868680" y="3931920"/>
            <a:ext cx="2926080" cy="1920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Isolation</a:t>
            </a:r>
            <a:endParaRPr lang="en-US" sz="1400" dirty="0"/>
          </a:p>
          <a:p>
            <a:pPr indent="0" marL="0">
              <a:spcAft>
                <a:spcPts val="200"/>
              </a:spcAft>
              <a:buNone/>
            </a:pPr>
            <a:r>
              <a:rPr lang="en-US" sz="1400" dirty="0">
                <a:solidFill>
                  <a:schemeClr val="tx1"/>
                </a:solidFill>
              </a:rPr>
              <a:t>Realm in a shared Keycloak</a:t>
            </a:r>
            <a:endParaRPr lang="en-US" sz="1400" dirty="0"/>
          </a:p>
          <a:p>
            <a:pPr indent="0" marL="0">
              <a:spcAft>
                <a:spcPts val="200"/>
              </a:spcAft>
              <a:buNone/>
            </a:pPr>
            <a:r>
              <a:rPr lang="en-US" sz="1400" b="1" dirty="0">
                <a:solidFill>
                  <a:schemeClr val="tx1"/>
                </a:solidFill>
              </a:rPr>
              <a:t>For</a:t>
            </a:r>
            <a:endParaRPr lang="en-US" sz="1400" dirty="0"/>
          </a:p>
          <a:p>
            <a:pPr indent="0" marL="0">
              <a:spcAft>
                <a:spcPts val="200"/>
              </a:spcAft>
              <a:buNone/>
            </a:pPr>
            <a:r>
              <a:rPr lang="en-US" sz="1400" dirty="0">
                <a:solidFill>
                  <a:schemeClr val="tx1"/>
                </a:solidFill>
              </a:rPr>
              <a:t>Self-serve developers and small apps</a:t>
            </a:r>
            <a:endParaRPr lang="en-US" sz="1400" dirty="0"/>
          </a:p>
          <a:p>
            <a:pPr indent="0" marL="0">
              <a:spcAft>
                <a:spcPts val="200"/>
              </a:spcAft>
              <a:buNone/>
            </a:pPr>
            <a:r>
              <a:rPr lang="en-US" sz="1400" b="1" dirty="0">
                <a:solidFill>
                  <a:schemeClr val="tx1"/>
                </a:solidFill>
              </a:rPr>
              <a:t>Pricing basis</a:t>
            </a:r>
            <a:endParaRPr lang="en-US" sz="1400" dirty="0"/>
          </a:p>
          <a:p>
            <a:pPr indent="0" marL="0">
              <a:spcAft>
                <a:spcPts val="200"/>
              </a:spcAft>
              <a:buNone/>
            </a:pPr>
            <a:r>
              <a:rPr lang="en-US" sz="1400" dirty="0">
                <a:solidFill>
                  <a:schemeClr val="tx1"/>
                </a:solidFill>
              </a:rPr>
              <a:t>Per MAU band</a:t>
            </a:r>
            <a:endParaRPr lang="en-US" sz="1400" dirty="0"/>
          </a:p>
        </p:txBody>
      </p:sp>
      <p:sp>
        <p:nvSpPr>
          <p:cNvPr id="10" name="tier Business"/>
          <p:cNvSpPr/>
          <p:nvPr/>
        </p:nvSpPr>
        <p:spPr>
          <a:xfrm>
            <a:off x="4297680" y="1463040"/>
            <a:ext cx="3520440" cy="4572000"/>
          </a:xfrm>
          <a:prstGeom prst="roundRect">
            <a:avLst>
              <a:gd name="adj" fmla="val 2078"/>
            </a:avLst>
          </a:prstGeom>
          <a:solidFill>
            <a:schemeClr val="bg2"/>
          </a:solidFill>
          <a:ln/>
        </p:spPr>
      </p:sp>
      <p:sp>
        <p:nvSpPr>
          <p:cNvPr id="11" name="badge LuBoxes"/>
          <p:cNvSpPr/>
          <p:nvPr/>
        </p:nvSpPr>
        <p:spPr>
          <a:xfrm>
            <a:off x="4617720" y="1737360"/>
            <a:ext cx="640080" cy="640080"/>
          </a:xfrm>
          <a:prstGeom prst="ellipse">
            <a:avLst/>
          </a:prstGeom>
          <a:solidFill>
            <a:schemeClr val="accent1"/>
          </a:solidFill>
          <a:ln/>
        </p:spPr>
      </p:sp>
      <p:pic>
        <p:nvPicPr>
          <p:cNvPr id="12" name="icon LuBoxes" descr="preencoded.png">    </p:cNvPr>
          <p:cNvPicPr>
            <a:picLocks noChangeAspect="1"/>
          </p:cNvPicPr>
          <p:nvPr/>
        </p:nvPicPr>
        <p:blipFill>
          <a:blip r:embed="rId2"/>
          <a:stretch>
            <a:fillRect/>
          </a:stretch>
        </p:blipFill>
        <p:spPr>
          <a:xfrm>
            <a:off x="4771339" y="1890979"/>
            <a:ext cx="332842" cy="332842"/>
          </a:xfrm>
          <a:prstGeom prst="rect">
            <a:avLst/>
          </a:prstGeom>
        </p:spPr>
      </p:pic>
      <p:sp>
        <p:nvSpPr>
          <p:cNvPr id="13" name="Text 9"/>
          <p:cNvSpPr txBox="1"/>
          <p:nvPr/>
        </p:nvSpPr>
        <p:spPr>
          <a:xfrm>
            <a:off x="461772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Business</a:t>
            </a:r>
            <a:endParaRPr lang="en-US" sz="2400" dirty="0"/>
          </a:p>
        </p:txBody>
      </p:sp>
      <p:sp>
        <p:nvSpPr>
          <p:cNvPr id="14" name="Text 10"/>
          <p:cNvSpPr txBox="1"/>
          <p:nvPr/>
        </p:nvSpPr>
        <p:spPr>
          <a:xfrm>
            <a:off x="4617720" y="306324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SAR 1,500–6,000</a:t>
            </a:r>
            <a:endParaRPr lang="en-US" sz="2000" dirty="0"/>
          </a:p>
        </p:txBody>
      </p:sp>
      <p:sp>
        <p:nvSpPr>
          <p:cNvPr id="15" name="Text 11"/>
          <p:cNvSpPr txBox="1"/>
          <p:nvPr/>
        </p:nvSpPr>
        <p:spPr>
          <a:xfrm>
            <a:off x="4617720" y="347472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per month, excluding VAT</a:t>
            </a:r>
            <a:endParaRPr lang="en-US" sz="1200" dirty="0"/>
          </a:p>
        </p:txBody>
      </p:sp>
      <p:sp>
        <p:nvSpPr>
          <p:cNvPr id="16" name="Text 12"/>
          <p:cNvSpPr txBox="1"/>
          <p:nvPr/>
        </p:nvSpPr>
        <p:spPr>
          <a:xfrm>
            <a:off x="4617720" y="3931920"/>
            <a:ext cx="2926080" cy="1920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Isolation</a:t>
            </a:r>
            <a:endParaRPr lang="en-US" sz="1400" dirty="0"/>
          </a:p>
          <a:p>
            <a:pPr indent="0" marL="0">
              <a:spcAft>
                <a:spcPts val="200"/>
              </a:spcAft>
              <a:buNone/>
            </a:pPr>
            <a:r>
              <a:rPr lang="en-US" sz="1400" dirty="0">
                <a:solidFill>
                  <a:schemeClr val="tx1"/>
                </a:solidFill>
              </a:rPr>
              <a:t>Own Keycloak instance and database</a:t>
            </a:r>
            <a:endParaRPr lang="en-US" sz="1400" dirty="0"/>
          </a:p>
          <a:p>
            <a:pPr indent="0" marL="0">
              <a:spcAft>
                <a:spcPts val="200"/>
              </a:spcAft>
              <a:buNone/>
            </a:pPr>
            <a:r>
              <a:rPr lang="en-US" sz="1400" b="1" dirty="0">
                <a:solidFill>
                  <a:schemeClr val="tx1"/>
                </a:solidFill>
              </a:rPr>
              <a:t>For</a:t>
            </a:r>
            <a:endParaRPr lang="en-US" sz="1400" dirty="0"/>
          </a:p>
          <a:p>
            <a:pPr indent="0" marL="0">
              <a:spcAft>
                <a:spcPts val="200"/>
              </a:spcAft>
              <a:buNone/>
            </a:pPr>
            <a:r>
              <a:rPr lang="en-US" sz="1400" dirty="0">
                <a:solidFill>
                  <a:schemeClr val="tx1"/>
                </a:solidFill>
              </a:rPr>
              <a:t>Companies running production CIAM</a:t>
            </a:r>
            <a:endParaRPr lang="en-US" sz="1400" dirty="0"/>
          </a:p>
          <a:p>
            <a:pPr indent="0" marL="0">
              <a:spcAft>
                <a:spcPts val="200"/>
              </a:spcAft>
              <a:buNone/>
            </a:pPr>
            <a:r>
              <a:rPr lang="en-US" sz="1400" b="1" dirty="0">
                <a:solidFill>
                  <a:schemeClr val="tx1"/>
                </a:solidFill>
              </a:rPr>
              <a:t>Pricing basis</a:t>
            </a:r>
            <a:endParaRPr lang="en-US" sz="1400" dirty="0"/>
          </a:p>
          <a:p>
            <a:pPr indent="0" marL="0">
              <a:spcAft>
                <a:spcPts val="200"/>
              </a:spcAft>
              <a:buNone/>
            </a:pPr>
            <a:r>
              <a:rPr lang="en-US" sz="1400" dirty="0">
                <a:solidFill>
                  <a:schemeClr val="tx1"/>
                </a:solidFill>
              </a:rPr>
              <a:t>Per instance size, unlimited users</a:t>
            </a:r>
            <a:endParaRPr lang="en-US" sz="1400" dirty="0"/>
          </a:p>
        </p:txBody>
      </p:sp>
      <p:sp>
        <p:nvSpPr>
          <p:cNvPr id="17" name="tier Enterprise / Gov"/>
          <p:cNvSpPr/>
          <p:nvPr/>
        </p:nvSpPr>
        <p:spPr>
          <a:xfrm>
            <a:off x="8046720" y="1463040"/>
            <a:ext cx="3520440" cy="4572000"/>
          </a:xfrm>
          <a:prstGeom prst="roundRect">
            <a:avLst>
              <a:gd name="adj" fmla="val 2078"/>
            </a:avLst>
          </a:prstGeom>
          <a:solidFill>
            <a:schemeClr val="bg2"/>
          </a:solidFill>
          <a:ln/>
        </p:spPr>
      </p:sp>
      <p:sp>
        <p:nvSpPr>
          <p:cNvPr id="18" name="badge LuLandmark"/>
          <p:cNvSpPr/>
          <p:nvPr/>
        </p:nvSpPr>
        <p:spPr>
          <a:xfrm>
            <a:off x="8366760" y="1737360"/>
            <a:ext cx="640080" cy="640080"/>
          </a:xfrm>
          <a:prstGeom prst="ellipse">
            <a:avLst/>
          </a:prstGeom>
          <a:solidFill>
            <a:schemeClr val="bg1"/>
          </a:solidFill>
          <a:ln/>
        </p:spPr>
      </p:sp>
      <p:pic>
        <p:nvPicPr>
          <p:cNvPr id="19" name="icon LuLandmark" descr="preencoded.png">    </p:cNvPr>
          <p:cNvPicPr>
            <a:picLocks noChangeAspect="1"/>
          </p:cNvPicPr>
          <p:nvPr/>
        </p:nvPicPr>
        <p:blipFill>
          <a:blip r:embed="rId3"/>
          <a:stretch>
            <a:fillRect/>
          </a:stretch>
        </p:blipFill>
        <p:spPr>
          <a:xfrm>
            <a:off x="8520379" y="1890979"/>
            <a:ext cx="332842" cy="332842"/>
          </a:xfrm>
          <a:prstGeom prst="rect">
            <a:avLst/>
          </a:prstGeom>
        </p:spPr>
      </p:pic>
      <p:sp>
        <p:nvSpPr>
          <p:cNvPr id="20" name="Text 15"/>
          <p:cNvSpPr txBox="1"/>
          <p:nvPr/>
        </p:nvSpPr>
        <p:spPr>
          <a:xfrm>
            <a:off x="836676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Enterprise / Gov</a:t>
            </a:r>
            <a:endParaRPr lang="en-US" sz="2400" dirty="0"/>
          </a:p>
        </p:txBody>
      </p:sp>
      <p:sp>
        <p:nvSpPr>
          <p:cNvPr id="21" name="Text 16"/>
          <p:cNvSpPr txBox="1"/>
          <p:nvPr/>
        </p:nvSpPr>
        <p:spPr>
          <a:xfrm>
            <a:off x="8366760" y="306324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SAR 11,250–45,000</a:t>
            </a:r>
            <a:endParaRPr lang="en-US" sz="2000" dirty="0"/>
          </a:p>
        </p:txBody>
      </p:sp>
      <p:sp>
        <p:nvSpPr>
          <p:cNvPr id="22" name="Text 17"/>
          <p:cNvSpPr txBox="1"/>
          <p:nvPr/>
        </p:nvSpPr>
        <p:spPr>
          <a:xfrm>
            <a:off x="8366760" y="3474720"/>
            <a:ext cx="2926080" cy="274320"/>
          </a:xfrm>
          <a:prstGeom prst="rect">
            <a:avLst/>
          </a:prstGeom>
          <a:noFill/>
          <a:ln/>
        </p:spPr>
        <p:txBody>
          <a:bodyPr wrap="square" lIns="0" tIns="0" rIns="0" bIns="0" rtlCol="0" anchor="t"/>
          <a:lstStyle/>
          <a:p>
            <a:pPr indent="0" marL="0">
              <a:buNone/>
            </a:pPr>
            <a:r>
              <a:rPr lang="en-US" sz="1200" dirty="0">
                <a:solidFill>
                  <a:schemeClr val="accent5"/>
                </a:solidFill>
              </a:rPr>
              <a:t>per month, excluding VAT</a:t>
            </a:r>
            <a:endParaRPr lang="en-US" sz="1200" dirty="0"/>
          </a:p>
        </p:txBody>
      </p:sp>
      <p:sp>
        <p:nvSpPr>
          <p:cNvPr id="23" name="Text 18"/>
          <p:cNvSpPr txBox="1"/>
          <p:nvPr/>
        </p:nvSpPr>
        <p:spPr>
          <a:xfrm>
            <a:off x="8366760" y="3931920"/>
            <a:ext cx="2926080" cy="1920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Isolation</a:t>
            </a:r>
            <a:endParaRPr lang="en-US" sz="1400" dirty="0"/>
          </a:p>
          <a:p>
            <a:pPr indent="0" marL="0">
              <a:spcAft>
                <a:spcPts val="200"/>
              </a:spcAft>
              <a:buNone/>
            </a:pPr>
            <a:r>
              <a:rPr lang="en-US" sz="1400" dirty="0">
                <a:solidFill>
                  <a:schemeClr val="tx1"/>
                </a:solidFill>
              </a:rPr>
              <a:t>Dedicated cell, Jeddah DR included</a:t>
            </a:r>
            <a:endParaRPr lang="en-US" sz="1400" dirty="0"/>
          </a:p>
          <a:p>
            <a:pPr indent="0" marL="0">
              <a:spcAft>
                <a:spcPts val="200"/>
              </a:spcAft>
              <a:buNone/>
            </a:pPr>
            <a:r>
              <a:rPr lang="en-US" sz="1400" b="1" dirty="0">
                <a:solidFill>
                  <a:schemeClr val="tx1"/>
                </a:solidFill>
              </a:rPr>
              <a:t>For</a:t>
            </a:r>
            <a:endParaRPr lang="en-US" sz="1400" dirty="0"/>
          </a:p>
          <a:p>
            <a:pPr indent="0" marL="0">
              <a:spcAft>
                <a:spcPts val="200"/>
              </a:spcAft>
              <a:buNone/>
            </a:pPr>
            <a:r>
              <a:rPr lang="en-US" sz="1400" dirty="0">
                <a:solidFill>
                  <a:schemeClr val="tx1"/>
                </a:solidFill>
              </a:rPr>
              <a:t>Banks, government, critical infrastructure</a:t>
            </a:r>
            <a:endParaRPr lang="en-US" sz="1400" dirty="0"/>
          </a:p>
          <a:p>
            <a:pPr indent="0" marL="0">
              <a:spcAft>
                <a:spcPts val="200"/>
              </a:spcAft>
              <a:buNone/>
            </a:pPr>
            <a:r>
              <a:rPr lang="en-US" sz="1400" b="1" dirty="0">
                <a:solidFill>
                  <a:schemeClr val="tx1"/>
                </a:solidFill>
              </a:rPr>
              <a:t>Pricing basis</a:t>
            </a:r>
            <a:endParaRPr lang="en-US" sz="1400" dirty="0"/>
          </a:p>
          <a:p>
            <a:pPr indent="0" marL="0">
              <a:spcAft>
                <a:spcPts val="200"/>
              </a:spcAft>
              <a:buNone/>
            </a:pPr>
            <a:r>
              <a:rPr lang="en-US" sz="1400" dirty="0">
                <a:solidFill>
                  <a:schemeClr val="tx1"/>
                </a:solidFill>
              </a:rPr>
              <a:t>Per cell size, annual contract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Starter undercuts in-Kingdom options at 10k MAU</a:t>
            </a:r>
            <a:endParaRPr lang="en-US" sz="3400" dirty="0"/>
          </a:p>
        </p:txBody>
      </p:sp>
      <p:graphicFrame>
        <p:nvGraphicFramePr>
          <p:cNvPr id="3" name="Chart 0" descr=""/>
          <p:cNvGraphicFramePr/>
          <p:nvPr/>
        </p:nvGraphicFramePr>
        <p:xfrm>
          <a:off x="548640" y="137160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7863840" y="1463040"/>
            <a:ext cx="3749040" cy="4572000"/>
          </a:xfrm>
          <a:prstGeom prst="roundRect">
            <a:avLst>
              <a:gd name="adj" fmla="val 1951"/>
            </a:avLst>
          </a:prstGeom>
          <a:solidFill>
            <a:schemeClr val="bg2"/>
          </a:solidFill>
          <a:ln/>
        </p:spPr>
      </p:sp>
      <p:sp>
        <p:nvSpPr>
          <p:cNvPr id="5" name="badge LuGlobe"/>
          <p:cNvSpPr/>
          <p:nvPr/>
        </p:nvSpPr>
        <p:spPr>
          <a:xfrm>
            <a:off x="8138160" y="1737360"/>
            <a:ext cx="548640" cy="548640"/>
          </a:xfrm>
          <a:prstGeom prst="ellipse">
            <a:avLst/>
          </a:prstGeom>
          <a:solidFill>
            <a:schemeClr val="bg1"/>
          </a:solidFill>
          <a:ln/>
        </p:spPr>
      </p:sp>
      <p:pic>
        <p:nvPicPr>
          <p:cNvPr id="6" name="icon LuGlobe" descr="preencoded.png">    </p:cNvPr>
          <p:cNvPicPr>
            <a:picLocks noChangeAspect="1"/>
          </p:cNvPicPr>
          <p:nvPr/>
        </p:nvPicPr>
        <p:blipFill>
          <a:blip r:embed="rId2"/>
          <a:stretch>
            <a:fillRect/>
          </a:stretch>
        </p:blipFill>
        <p:spPr>
          <a:xfrm>
            <a:off x="8269834" y="1869034"/>
            <a:ext cx="285293" cy="285293"/>
          </a:xfrm>
          <a:prstGeom prst="rect">
            <a:avLst/>
          </a:prstGeom>
        </p:spPr>
      </p:pic>
      <p:sp>
        <p:nvSpPr>
          <p:cNvPr id="7" name="Text 3"/>
          <p:cNvSpPr txBox="1"/>
          <p:nvPr/>
        </p:nvSpPr>
        <p:spPr>
          <a:xfrm>
            <a:off x="8138160" y="2468880"/>
            <a:ext cx="3200400" cy="914400"/>
          </a:xfrm>
          <a:prstGeom prst="rect">
            <a:avLst/>
          </a:prstGeom>
          <a:noFill/>
          <a:ln/>
        </p:spPr>
        <p:txBody>
          <a:bodyPr wrap="square" lIns="0" tIns="0" rIns="0" bIns="0" rtlCol="0" anchor="t"/>
          <a:lstStyle/>
          <a:p>
            <a:pPr indent="0" marL="0">
              <a:buNone/>
            </a:pPr>
            <a:r>
              <a:rPr lang="en-US" sz="1600" b="1" dirty="0">
                <a:solidFill>
                  <a:schemeClr val="tx2"/>
                </a:solidFill>
              </a:rPr>
              <a:t>Only two of these keep data in the Kingdom: Zimam and OCI IAM.</a:t>
            </a:r>
            <a:endParaRPr lang="en-US" sz="1600" dirty="0"/>
          </a:p>
        </p:txBody>
      </p:sp>
      <p:sp>
        <p:nvSpPr>
          <p:cNvPr id="8" name="Text 4"/>
          <p:cNvSpPr txBox="1"/>
          <p:nvPr/>
        </p:nvSpPr>
        <p:spPr>
          <a:xfrm>
            <a:off x="8138160" y="3474720"/>
            <a:ext cx="3200400" cy="2377440"/>
          </a:xfrm>
          <a:prstGeom prst="rect">
            <a:avLst/>
          </a:prstGeom>
          <a:noFill/>
          <a:ln/>
        </p:spPr>
        <p:txBody>
          <a:bodyPr wrap="square" lIns="0" tIns="0" rIns="0" bIns="0" rtlCol="0" anchor="t"/>
          <a:lstStyle/>
          <a:p>
            <a:pPr indent="0" marL="0">
              <a:buNone/>
            </a:pPr>
            <a:r>
              <a:rPr lang="en-US" sz="1400" dirty="0">
                <a:solidFill>
                  <a:schemeClr val="tx1"/>
                </a:solidFill>
              </a:rPr>
              <a:t>Entra External ID, Cognito and Google Identity Platform are free at this volume but have no Saudi residency. They are the price ceiling for low-compliance consumer apps, so Starter competes on residency, Nafath and Arabic UX, not on price alone.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Dedicated plans sit between specialists and Ping</a:t>
            </a:r>
            <a:endParaRPr lang="en-US" sz="3400" dirty="0"/>
          </a:p>
        </p:txBody>
      </p:sp>
      <p:graphicFrame>
        <p:nvGraphicFramePr>
          <p:cNvPr id="3" name="Chart 0" descr=""/>
          <p:cNvGraphicFramePr/>
          <p:nvPr/>
        </p:nvGraphicFramePr>
        <p:xfrm>
          <a:off x="548640" y="137160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7863840" y="1463040"/>
            <a:ext cx="3749040" cy="4572000"/>
          </a:xfrm>
          <a:prstGeom prst="roundRect">
            <a:avLst>
              <a:gd name="adj" fmla="val 1951"/>
            </a:avLst>
          </a:prstGeom>
          <a:solidFill>
            <a:schemeClr val="bg2"/>
          </a:solidFill>
          <a:ln/>
        </p:spPr>
      </p:sp>
      <p:sp>
        <p:nvSpPr>
          <p:cNvPr id="5" name="badge LuScale"/>
          <p:cNvSpPr/>
          <p:nvPr/>
        </p:nvSpPr>
        <p:spPr>
          <a:xfrm>
            <a:off x="8138160" y="1737360"/>
            <a:ext cx="548640" cy="548640"/>
          </a:xfrm>
          <a:prstGeom prst="ellipse">
            <a:avLst/>
          </a:prstGeom>
          <a:solidFill>
            <a:schemeClr val="bg1"/>
          </a:solidFill>
          <a:ln/>
        </p:spPr>
      </p:sp>
      <p:pic>
        <p:nvPicPr>
          <p:cNvPr id="6" name="icon LuScale" descr="preencoded.png">    </p:cNvPr>
          <p:cNvPicPr>
            <a:picLocks noChangeAspect="1"/>
          </p:cNvPicPr>
          <p:nvPr/>
        </p:nvPicPr>
        <p:blipFill>
          <a:blip r:embed="rId2"/>
          <a:stretch>
            <a:fillRect/>
          </a:stretch>
        </p:blipFill>
        <p:spPr>
          <a:xfrm>
            <a:off x="8269834" y="1869034"/>
            <a:ext cx="285293" cy="285293"/>
          </a:xfrm>
          <a:prstGeom prst="rect">
            <a:avLst/>
          </a:prstGeom>
        </p:spPr>
      </p:pic>
      <p:sp>
        <p:nvSpPr>
          <p:cNvPr id="7" name="Text 3"/>
          <p:cNvSpPr txBox="1"/>
          <p:nvPr/>
        </p:nvSpPr>
        <p:spPr>
          <a:xfrm>
            <a:off x="8138160" y="2468880"/>
            <a:ext cx="3200400" cy="914400"/>
          </a:xfrm>
          <a:prstGeom prst="rect">
            <a:avLst/>
          </a:prstGeom>
          <a:noFill/>
          <a:ln/>
        </p:spPr>
        <p:txBody>
          <a:bodyPr wrap="square" lIns="0" tIns="0" rIns="0" bIns="0" rtlCol="0" anchor="t"/>
          <a:lstStyle/>
          <a:p>
            <a:pPr indent="0" marL="0">
              <a:buNone/>
            </a:pPr>
            <a:r>
              <a:rPr lang="en-US" sz="1600" b="1" dirty="0">
                <a:solidFill>
                  <a:schemeClr val="tx2"/>
                </a:solidFill>
              </a:rPr>
              <a:t>Business is the anchor of the range; Enterprise lands just under Ping.</a:t>
            </a:r>
            <a:endParaRPr lang="en-US" sz="1600" dirty="0"/>
          </a:p>
        </p:txBody>
      </p:sp>
      <p:sp>
        <p:nvSpPr>
          <p:cNvPr id="8" name="Text 4"/>
          <p:cNvSpPr txBox="1"/>
          <p:nvPr/>
        </p:nvSpPr>
        <p:spPr>
          <a:xfrm>
            <a:off x="8138160" y="3474720"/>
            <a:ext cx="3200400" cy="2377440"/>
          </a:xfrm>
          <a:prstGeom prst="rect">
            <a:avLst/>
          </a:prstGeom>
          <a:noFill/>
          <a:ln/>
        </p:spPr>
        <p:txBody>
          <a:bodyPr wrap="square" lIns="0" tIns="0" rIns="0" bIns="0" rtlCol="0" anchor="t"/>
          <a:lstStyle/>
          <a:p>
            <a:pPr indent="0" marL="0">
              <a:buNone/>
            </a:pPr>
            <a:r>
              <a:rPr lang="en-US" sz="1400" dirty="0">
                <a:solidFill>
                  <a:schemeClr val="tx1"/>
                </a:solidFill>
              </a:rPr>
              <a:t>Business S/M bracket the managed-Keycloak specialists, none of which host in the Kingdom. Enterprise S with annual prepay (SAR 10,125 a month) comes in below Ping's entry price and includes a dedicated cell and Jeddah DR.</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Starter and Business price book</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7589520"/>
                <a:gridCol w="1645920"/>
              </a:tblGrid>
              <a:tr h="438912">
                <a:tc>
                  <a:txBody>
                    <a:bodyPr/>
                    <a:lstStyle/>
                    <a:p>
                      <a:pPr algn="l" indent="0" marL="0">
                        <a:buNone/>
                      </a:pPr>
                      <a:r>
                        <a:rPr lang="en-US" sz="1400" b="1" dirty="0">
                          <a:solidFill>
                            <a:schemeClr val="bg1"/>
                          </a:solidFill>
                        </a:rPr>
                        <a:t>Plan</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Includes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SAR / month</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algn="l" indent="0" marL="0">
                        <a:buNone/>
                      </a:pPr>
                      <a:r>
                        <a:rPr lang="en-US" sz="1400" b="1" dirty="0">
                          <a:solidFill>
                            <a:schemeClr val="tx1"/>
                          </a:solidFill>
                        </a:rPr>
                        <a:t>Free</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 realm, 1,000 MAU, Zimam subdomain, community support</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b="1" dirty="0">
                          <a:solidFill>
                            <a:schemeClr val="tx1"/>
                          </a:solidFill>
                        </a:rPr>
                        <a:t>Starter 5k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5,000 MAU, themes, email support</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290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tx1"/>
                          </a:solidFill>
                        </a:rPr>
                        <a:t>Starter 10k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10,000 MAU</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490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b="1" dirty="0">
                          <a:solidFill>
                            <a:schemeClr val="tx1"/>
                          </a:solidFill>
                        </a:rPr>
                        <a:t>Starter 25k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25,000 MAU</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990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tx1"/>
                          </a:solidFill>
                        </a:rPr>
                        <a:t>Starter 50k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50,000 MAU; above this, move to Business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1,690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b="1" dirty="0">
                          <a:solidFill>
                            <a:schemeClr val="tx1"/>
                          </a:solidFill>
                        </a:rPr>
                        <a:t>Business 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Own Keycloak (2 pods) and database, custom SPIs, custom domain, Nafath connector</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1,500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tx1"/>
                          </a:solidFill>
                        </a:rPr>
                        <a:t>Business M</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As S, twice the capacity (up to ~25 logins per second)</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3,000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b="1" dirty="0">
                          <a:solidFill>
                            <a:schemeClr val="tx1"/>
                          </a:solidFill>
                        </a:rPr>
                        <a:t>Business L</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As S, 3 pods (up to ~75 logins per second)</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6,000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4" name="badge LuTag"/>
          <p:cNvSpPr/>
          <p:nvPr/>
        </p:nvSpPr>
        <p:spPr>
          <a:xfrm>
            <a:off x="548640" y="5532120"/>
            <a:ext cx="457200" cy="457200"/>
          </a:xfrm>
          <a:prstGeom prst="ellipse">
            <a:avLst/>
          </a:prstGeom>
          <a:solidFill>
            <a:schemeClr val="bg2"/>
          </a:solidFill>
          <a:ln/>
        </p:spPr>
      </p:sp>
      <p:pic>
        <p:nvPicPr>
          <p:cNvPr id="5" name="icon LuTag" descr="preencoded.png">    </p:cNvPr>
          <p:cNvPicPr>
            <a:picLocks noChangeAspect="1"/>
          </p:cNvPicPr>
          <p:nvPr/>
        </p:nvPicPr>
        <p:blipFill>
          <a:blip r:embed="rId1"/>
          <a:stretch>
            <a:fillRect/>
          </a:stretch>
        </p:blipFill>
        <p:spPr>
          <a:xfrm>
            <a:off x="658368" y="5641848"/>
            <a:ext cx="237744" cy="237744"/>
          </a:xfrm>
          <a:prstGeom prst="rect">
            <a:avLst/>
          </a:prstGeom>
        </p:spPr>
      </p:pic>
      <p:sp>
        <p:nvSpPr>
          <p:cNvPr id="6" name="Text 2"/>
          <p:cNvSpPr txBox="1"/>
          <p:nvPr/>
        </p:nvSpPr>
        <p:spPr>
          <a:xfrm>
            <a:off x="1143000" y="5596128"/>
            <a:ext cx="10424160" cy="457200"/>
          </a:xfrm>
          <a:prstGeom prst="rect">
            <a:avLst/>
          </a:prstGeom>
          <a:noFill/>
          <a:ln/>
        </p:spPr>
        <p:txBody>
          <a:bodyPr wrap="square" lIns="0" tIns="0" rIns="0" bIns="0" rtlCol="0" anchor="t"/>
          <a:lstStyle/>
          <a:p>
            <a:pPr indent="0" marL="0">
              <a:buNone/>
            </a:pPr>
            <a:r>
              <a:rPr lang="en-US" sz="1300" dirty="0">
                <a:solidFill>
                  <a:schemeClr val="accent5"/>
                </a:solidFill>
              </a:rPr>
              <a:t>Prices exclude 15% VAT. Annual prepay: 10% off. Starter overage is a soft limit: the customer moves to the next band the following month.</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Enterprise: dedicated cells, Gov options extra</a:t>
            </a:r>
            <a:endParaRPr lang="en-US" sz="3400" dirty="0"/>
          </a:p>
        </p:txBody>
      </p:sp>
      <p:sp>
        <p:nvSpPr>
          <p:cNvPr id="3" name="enterprise S"/>
          <p:cNvSpPr/>
          <p:nvPr/>
        </p:nvSpPr>
        <p:spPr>
          <a:xfrm>
            <a:off x="548640" y="1417320"/>
            <a:ext cx="5760720" cy="1371600"/>
          </a:xfrm>
          <a:prstGeom prst="roundRect">
            <a:avLst>
              <a:gd name="adj" fmla="val 5333"/>
            </a:avLst>
          </a:prstGeom>
          <a:solidFill>
            <a:schemeClr val="bg2"/>
          </a:solidFill>
          <a:ln/>
        </p:spPr>
      </p:sp>
      <p:sp>
        <p:nvSpPr>
          <p:cNvPr id="4" name="Text 2"/>
          <p:cNvSpPr txBox="1"/>
          <p:nvPr/>
        </p:nvSpPr>
        <p:spPr>
          <a:xfrm>
            <a:off x="822960" y="1600200"/>
            <a:ext cx="27432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Enterprise S</a:t>
            </a:r>
            <a:endParaRPr lang="en-US" sz="2000" dirty="0"/>
          </a:p>
        </p:txBody>
      </p:sp>
      <p:sp>
        <p:nvSpPr>
          <p:cNvPr id="5" name="Text 3"/>
          <p:cNvSpPr txBox="1"/>
          <p:nvPr/>
        </p:nvSpPr>
        <p:spPr>
          <a:xfrm>
            <a:off x="822960" y="2103120"/>
            <a:ext cx="3291840" cy="365760"/>
          </a:xfrm>
          <a:prstGeom prst="rect">
            <a:avLst/>
          </a:prstGeom>
          <a:noFill/>
          <a:ln/>
        </p:spPr>
        <p:txBody>
          <a:bodyPr wrap="square" lIns="0" tIns="0" rIns="0" bIns="0" rtlCol="0" anchor="t"/>
          <a:lstStyle/>
          <a:p>
            <a:pPr indent="0" marL="0">
              <a:buNone/>
            </a:pPr>
            <a:r>
              <a:rPr lang="en-US" sz="1300" dirty="0">
                <a:solidFill>
                  <a:schemeClr val="accent5"/>
                </a:solidFill>
              </a:rPr>
              <a:t>3 shared nodes · PostgreSQL 2 OCPU</a:t>
            </a:r>
            <a:endParaRPr lang="en-US" sz="1300" dirty="0"/>
          </a:p>
        </p:txBody>
      </p:sp>
      <p:sp>
        <p:nvSpPr>
          <p:cNvPr id="6" name="Text 4"/>
          <p:cNvSpPr txBox="1"/>
          <p:nvPr/>
        </p:nvSpPr>
        <p:spPr>
          <a:xfrm>
            <a:off x="3840480" y="1600200"/>
            <a:ext cx="2240280" cy="457200"/>
          </a:xfrm>
          <a:prstGeom prst="rect">
            <a:avLst/>
          </a:prstGeom>
          <a:noFill/>
          <a:ln/>
        </p:spPr>
        <p:txBody>
          <a:bodyPr wrap="square" lIns="0" tIns="0" rIns="0" bIns="0" rtlCol="0" anchor="t"/>
          <a:lstStyle/>
          <a:p>
            <a:pPr algn="r" indent="0" marL="0">
              <a:buNone/>
            </a:pPr>
            <a:r>
              <a:rPr lang="en-US" sz="2200" b="1" dirty="0">
                <a:solidFill>
                  <a:schemeClr val="accent1"/>
                </a:solidFill>
              </a:rPr>
              <a:t>SAR 11,250</a:t>
            </a:r>
            <a:endParaRPr lang="en-US" sz="2200" dirty="0"/>
          </a:p>
        </p:txBody>
      </p:sp>
      <p:sp>
        <p:nvSpPr>
          <p:cNvPr id="7" name="Text 5"/>
          <p:cNvSpPr txBox="1"/>
          <p:nvPr/>
        </p:nvSpPr>
        <p:spPr>
          <a:xfrm>
            <a:off x="3566160" y="2103120"/>
            <a:ext cx="2514600" cy="365760"/>
          </a:xfrm>
          <a:prstGeom prst="rect">
            <a:avLst/>
          </a:prstGeom>
          <a:noFill/>
          <a:ln/>
        </p:spPr>
        <p:txBody>
          <a:bodyPr wrap="square" lIns="0" tIns="0" rIns="0" bIns="0" rtlCol="0" anchor="t"/>
          <a:lstStyle/>
          <a:p>
            <a:pPr algn="r" indent="0" marL="0">
              <a:buNone/>
            </a:pPr>
            <a:r>
              <a:rPr lang="en-US" sz="1200" dirty="0">
                <a:solidFill>
                  <a:schemeClr val="accent5"/>
                </a:solidFill>
              </a:rPr>
              <a:t>SAR 121,500 a year prepaid</a:t>
            </a:r>
            <a:endParaRPr lang="en-US" sz="1200" dirty="0"/>
          </a:p>
        </p:txBody>
      </p:sp>
      <p:sp>
        <p:nvSpPr>
          <p:cNvPr id="8" name="enterprise M"/>
          <p:cNvSpPr/>
          <p:nvPr/>
        </p:nvSpPr>
        <p:spPr>
          <a:xfrm>
            <a:off x="548640" y="2971800"/>
            <a:ext cx="5760720" cy="1371600"/>
          </a:xfrm>
          <a:prstGeom prst="roundRect">
            <a:avLst>
              <a:gd name="adj" fmla="val 5333"/>
            </a:avLst>
          </a:prstGeom>
          <a:solidFill>
            <a:schemeClr val="bg2"/>
          </a:solidFill>
          <a:ln/>
        </p:spPr>
      </p:sp>
      <p:sp>
        <p:nvSpPr>
          <p:cNvPr id="9" name="Text 7"/>
          <p:cNvSpPr txBox="1"/>
          <p:nvPr/>
        </p:nvSpPr>
        <p:spPr>
          <a:xfrm>
            <a:off x="822960" y="3154680"/>
            <a:ext cx="27432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Enterprise M</a:t>
            </a:r>
            <a:endParaRPr lang="en-US" sz="2000" dirty="0"/>
          </a:p>
        </p:txBody>
      </p:sp>
      <p:sp>
        <p:nvSpPr>
          <p:cNvPr id="10" name="Text 8"/>
          <p:cNvSpPr txBox="1"/>
          <p:nvPr/>
        </p:nvSpPr>
        <p:spPr>
          <a:xfrm>
            <a:off x="822960" y="3657600"/>
            <a:ext cx="3291840" cy="365760"/>
          </a:xfrm>
          <a:prstGeom prst="rect">
            <a:avLst/>
          </a:prstGeom>
          <a:noFill/>
          <a:ln/>
        </p:spPr>
        <p:txBody>
          <a:bodyPr wrap="square" lIns="0" tIns="0" rIns="0" bIns="0" rtlCol="0" anchor="t"/>
          <a:lstStyle/>
          <a:p>
            <a:pPr indent="0" marL="0">
              <a:buNone/>
            </a:pPr>
            <a:r>
              <a:rPr lang="en-US" sz="1300" dirty="0">
                <a:solidFill>
                  <a:schemeClr val="accent5"/>
                </a:solidFill>
              </a:rPr>
              <a:t>Keycloak 3 x 4 OCPU · PostgreSQL 4 OCPU</a:t>
            </a:r>
            <a:endParaRPr lang="en-US" sz="1300" dirty="0"/>
          </a:p>
        </p:txBody>
      </p:sp>
      <p:sp>
        <p:nvSpPr>
          <p:cNvPr id="11" name="Text 9"/>
          <p:cNvSpPr txBox="1"/>
          <p:nvPr/>
        </p:nvSpPr>
        <p:spPr>
          <a:xfrm>
            <a:off x="3840480" y="3154680"/>
            <a:ext cx="2240280" cy="457200"/>
          </a:xfrm>
          <a:prstGeom prst="rect">
            <a:avLst/>
          </a:prstGeom>
          <a:noFill/>
          <a:ln/>
        </p:spPr>
        <p:txBody>
          <a:bodyPr wrap="square" lIns="0" tIns="0" rIns="0" bIns="0" rtlCol="0" anchor="t"/>
          <a:lstStyle/>
          <a:p>
            <a:pPr algn="r" indent="0" marL="0">
              <a:buNone/>
            </a:pPr>
            <a:r>
              <a:rPr lang="en-US" sz="2200" b="1" dirty="0">
                <a:solidFill>
                  <a:schemeClr val="accent1"/>
                </a:solidFill>
              </a:rPr>
              <a:t>SAR 24,000</a:t>
            </a:r>
            <a:endParaRPr lang="en-US" sz="2200" dirty="0"/>
          </a:p>
        </p:txBody>
      </p:sp>
      <p:sp>
        <p:nvSpPr>
          <p:cNvPr id="12" name="Text 10"/>
          <p:cNvSpPr txBox="1"/>
          <p:nvPr/>
        </p:nvSpPr>
        <p:spPr>
          <a:xfrm>
            <a:off x="3566160" y="3657600"/>
            <a:ext cx="2514600" cy="365760"/>
          </a:xfrm>
          <a:prstGeom prst="rect">
            <a:avLst/>
          </a:prstGeom>
          <a:noFill/>
          <a:ln/>
        </p:spPr>
        <p:txBody>
          <a:bodyPr wrap="square" lIns="0" tIns="0" rIns="0" bIns="0" rtlCol="0" anchor="t"/>
          <a:lstStyle/>
          <a:p>
            <a:pPr algn="r" indent="0" marL="0">
              <a:buNone/>
            </a:pPr>
            <a:r>
              <a:rPr lang="en-US" sz="1200" dirty="0">
                <a:solidFill>
                  <a:schemeClr val="accent5"/>
                </a:solidFill>
              </a:rPr>
              <a:t>SAR 259,200 a year prepaid</a:t>
            </a:r>
            <a:endParaRPr lang="en-US" sz="1200" dirty="0"/>
          </a:p>
        </p:txBody>
      </p:sp>
      <p:sp>
        <p:nvSpPr>
          <p:cNvPr id="13" name="enterprise L"/>
          <p:cNvSpPr/>
          <p:nvPr/>
        </p:nvSpPr>
        <p:spPr>
          <a:xfrm>
            <a:off x="548640" y="4526280"/>
            <a:ext cx="5760720" cy="1371600"/>
          </a:xfrm>
          <a:prstGeom prst="roundRect">
            <a:avLst>
              <a:gd name="adj" fmla="val 5333"/>
            </a:avLst>
          </a:prstGeom>
          <a:solidFill>
            <a:schemeClr val="bg2"/>
          </a:solidFill>
          <a:ln/>
        </p:spPr>
      </p:sp>
      <p:sp>
        <p:nvSpPr>
          <p:cNvPr id="14" name="Text 12"/>
          <p:cNvSpPr txBox="1"/>
          <p:nvPr/>
        </p:nvSpPr>
        <p:spPr>
          <a:xfrm>
            <a:off x="822960" y="4709160"/>
            <a:ext cx="27432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Enterprise L</a:t>
            </a:r>
            <a:endParaRPr lang="en-US" sz="2000" dirty="0"/>
          </a:p>
        </p:txBody>
      </p:sp>
      <p:sp>
        <p:nvSpPr>
          <p:cNvPr id="15" name="Text 13"/>
          <p:cNvSpPr txBox="1"/>
          <p:nvPr/>
        </p:nvSpPr>
        <p:spPr>
          <a:xfrm>
            <a:off x="822960" y="5212080"/>
            <a:ext cx="3291840" cy="365760"/>
          </a:xfrm>
          <a:prstGeom prst="rect">
            <a:avLst/>
          </a:prstGeom>
          <a:noFill/>
          <a:ln/>
        </p:spPr>
        <p:txBody>
          <a:bodyPr wrap="square" lIns="0" tIns="0" rIns="0" bIns="0" rtlCol="0" anchor="t"/>
          <a:lstStyle/>
          <a:p>
            <a:pPr indent="0" marL="0">
              <a:buNone/>
            </a:pPr>
            <a:r>
              <a:rPr lang="en-US" sz="1300" dirty="0">
                <a:solidFill>
                  <a:schemeClr val="accent5"/>
                </a:solidFill>
              </a:rPr>
              <a:t>Keycloak 3 x 8 OCPU · PostgreSQL 8 OCPU</a:t>
            </a:r>
            <a:endParaRPr lang="en-US" sz="1300" dirty="0"/>
          </a:p>
        </p:txBody>
      </p:sp>
      <p:sp>
        <p:nvSpPr>
          <p:cNvPr id="16" name="Text 14"/>
          <p:cNvSpPr txBox="1"/>
          <p:nvPr/>
        </p:nvSpPr>
        <p:spPr>
          <a:xfrm>
            <a:off x="3840480" y="4709160"/>
            <a:ext cx="2240280" cy="457200"/>
          </a:xfrm>
          <a:prstGeom prst="rect">
            <a:avLst/>
          </a:prstGeom>
          <a:noFill/>
          <a:ln/>
        </p:spPr>
        <p:txBody>
          <a:bodyPr wrap="square" lIns="0" tIns="0" rIns="0" bIns="0" rtlCol="0" anchor="t"/>
          <a:lstStyle/>
          <a:p>
            <a:pPr algn="r" indent="0" marL="0">
              <a:buNone/>
            </a:pPr>
            <a:r>
              <a:rPr lang="en-US" sz="2200" b="1" dirty="0">
                <a:solidFill>
                  <a:schemeClr val="accent1"/>
                </a:solidFill>
              </a:rPr>
              <a:t>SAR 45,000</a:t>
            </a:r>
            <a:endParaRPr lang="en-US" sz="2200" dirty="0"/>
          </a:p>
        </p:txBody>
      </p:sp>
      <p:sp>
        <p:nvSpPr>
          <p:cNvPr id="17" name="Text 15"/>
          <p:cNvSpPr txBox="1"/>
          <p:nvPr/>
        </p:nvSpPr>
        <p:spPr>
          <a:xfrm>
            <a:off x="3566160" y="5212080"/>
            <a:ext cx="2514600" cy="365760"/>
          </a:xfrm>
          <a:prstGeom prst="rect">
            <a:avLst/>
          </a:prstGeom>
          <a:noFill/>
          <a:ln/>
        </p:spPr>
        <p:txBody>
          <a:bodyPr wrap="square" lIns="0" tIns="0" rIns="0" bIns="0" rtlCol="0" anchor="t"/>
          <a:lstStyle/>
          <a:p>
            <a:pPr algn="r" indent="0" marL="0">
              <a:buNone/>
            </a:pPr>
            <a:r>
              <a:rPr lang="en-US" sz="1200" dirty="0">
                <a:solidFill>
                  <a:schemeClr val="accent5"/>
                </a:solidFill>
              </a:rPr>
              <a:t>SAR 486,000 a year prepaid</a:t>
            </a:r>
            <a:endParaRPr lang="en-US" sz="1200" dirty="0"/>
          </a:p>
        </p:txBody>
      </p:sp>
      <p:sp>
        <p:nvSpPr>
          <p:cNvPr id="18" name="gov options"/>
          <p:cNvSpPr/>
          <p:nvPr/>
        </p:nvSpPr>
        <p:spPr>
          <a:xfrm>
            <a:off x="6583680" y="1417320"/>
            <a:ext cx="5029200" cy="4480560"/>
          </a:xfrm>
          <a:prstGeom prst="roundRect">
            <a:avLst>
              <a:gd name="adj" fmla="val 1633"/>
            </a:avLst>
          </a:prstGeom>
          <a:solidFill>
            <a:schemeClr val="bg1"/>
          </a:solidFill>
          <a:ln w="12700">
            <a:solidFill>
              <a:schemeClr val="accent6"/>
            </a:solidFill>
            <a:prstDash val="solid"/>
          </a:ln>
        </p:spPr>
      </p:sp>
      <p:sp>
        <p:nvSpPr>
          <p:cNvPr id="19" name="badge LuShieldCheck"/>
          <p:cNvSpPr/>
          <p:nvPr/>
        </p:nvSpPr>
        <p:spPr>
          <a:xfrm>
            <a:off x="6858000" y="1645920"/>
            <a:ext cx="548640" cy="548640"/>
          </a:xfrm>
          <a:prstGeom prst="ellipse">
            <a:avLst/>
          </a:prstGeom>
          <a:solidFill>
            <a:schemeClr val="accent1"/>
          </a:solidFill>
          <a:ln/>
        </p:spPr>
      </p:sp>
      <p:pic>
        <p:nvPicPr>
          <p:cNvPr id="20" name="icon LuShieldCheck" descr="preencoded.png">    </p:cNvPr>
          <p:cNvPicPr>
            <a:picLocks noChangeAspect="1"/>
          </p:cNvPicPr>
          <p:nvPr/>
        </p:nvPicPr>
        <p:blipFill>
          <a:blip r:embed="rId1"/>
          <a:stretch>
            <a:fillRect/>
          </a:stretch>
        </p:blipFill>
        <p:spPr>
          <a:xfrm>
            <a:off x="6989674" y="1777594"/>
            <a:ext cx="285293" cy="285293"/>
          </a:xfrm>
          <a:prstGeom prst="rect">
            <a:avLst/>
          </a:prstGeom>
        </p:spPr>
      </p:pic>
      <p:sp>
        <p:nvSpPr>
          <p:cNvPr id="21" name="Text 18"/>
          <p:cNvSpPr txBox="1"/>
          <p:nvPr/>
        </p:nvSpPr>
        <p:spPr>
          <a:xfrm>
            <a:off x="7589520" y="173736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Gov options, per cell</a:t>
            </a:r>
            <a:endParaRPr lang="en-US" sz="2000" dirty="0"/>
          </a:p>
        </p:txBody>
      </p:sp>
      <p:sp>
        <p:nvSpPr>
          <p:cNvPr id="22" name="Text 19"/>
          <p:cNvSpPr txBox="1"/>
          <p:nvPr/>
        </p:nvSpPr>
        <p:spPr>
          <a:xfrm>
            <a:off x="6858000" y="2468880"/>
            <a:ext cx="2926080" cy="365760"/>
          </a:xfrm>
          <a:prstGeom prst="rect">
            <a:avLst/>
          </a:prstGeom>
          <a:noFill/>
          <a:ln/>
        </p:spPr>
        <p:txBody>
          <a:bodyPr wrap="square" lIns="0" tIns="0" rIns="0" bIns="0" rtlCol="0" anchor="t"/>
          <a:lstStyle/>
          <a:p>
            <a:pPr indent="0" marL="0">
              <a:buNone/>
            </a:pPr>
            <a:r>
              <a:rPr lang="en-US" sz="1500" b="1" dirty="0">
                <a:solidFill>
                  <a:schemeClr val="tx1"/>
                </a:solidFill>
              </a:rPr>
              <a:t>Dedicated HSM vault</a:t>
            </a:r>
            <a:endParaRPr lang="en-US" sz="1500" dirty="0"/>
          </a:p>
        </p:txBody>
      </p:sp>
      <p:sp>
        <p:nvSpPr>
          <p:cNvPr id="23" name="Text 20"/>
          <p:cNvSpPr txBox="1"/>
          <p:nvPr/>
        </p:nvSpPr>
        <p:spPr>
          <a:xfrm>
            <a:off x="9509760" y="2468880"/>
            <a:ext cx="1828800" cy="365760"/>
          </a:xfrm>
          <a:prstGeom prst="rect">
            <a:avLst/>
          </a:prstGeom>
          <a:noFill/>
          <a:ln/>
        </p:spPr>
        <p:txBody>
          <a:bodyPr wrap="square" lIns="0" tIns="0" rIns="0" bIns="0" rtlCol="0" anchor="t"/>
          <a:lstStyle/>
          <a:p>
            <a:pPr algn="r" indent="0" marL="0">
              <a:buNone/>
            </a:pPr>
            <a:r>
              <a:rPr lang="en-US" sz="1500" b="1" dirty="0">
                <a:solidFill>
                  <a:schemeClr val="accent1"/>
                </a:solidFill>
              </a:rPr>
              <a:t>SAR 13,500</a:t>
            </a:r>
            <a:endParaRPr lang="en-US" sz="1500" dirty="0"/>
          </a:p>
        </p:txBody>
      </p:sp>
      <p:sp>
        <p:nvSpPr>
          <p:cNvPr id="24" name="Text 21"/>
          <p:cNvSpPr txBox="1"/>
          <p:nvPr/>
        </p:nvSpPr>
        <p:spPr>
          <a:xfrm>
            <a:off x="6858000" y="2852928"/>
            <a:ext cx="4480560" cy="365760"/>
          </a:xfrm>
          <a:prstGeom prst="rect">
            <a:avLst/>
          </a:prstGeom>
          <a:noFill/>
          <a:ln/>
        </p:spPr>
        <p:txBody>
          <a:bodyPr wrap="square" lIns="0" tIns="0" rIns="0" bIns="0" rtlCol="0" anchor="t"/>
          <a:lstStyle/>
          <a:p>
            <a:pPr indent="0" marL="0">
              <a:buNone/>
            </a:pPr>
            <a:r>
              <a:rPr lang="en-US" sz="1300" dirty="0">
                <a:solidFill>
                  <a:schemeClr val="accent5"/>
                </a:solidFill>
              </a:rPr>
              <a:t>or BYOK via External KMS: SAR 500</a:t>
            </a:r>
            <a:endParaRPr lang="en-US" sz="1300" dirty="0"/>
          </a:p>
        </p:txBody>
      </p:sp>
      <p:sp>
        <p:nvSpPr>
          <p:cNvPr id="25" name="Text 22"/>
          <p:cNvSpPr txBox="1"/>
          <p:nvPr/>
        </p:nvSpPr>
        <p:spPr>
          <a:xfrm>
            <a:off x="6858000" y="3429000"/>
            <a:ext cx="2926080" cy="365760"/>
          </a:xfrm>
          <a:prstGeom prst="rect">
            <a:avLst/>
          </a:prstGeom>
          <a:noFill/>
          <a:ln/>
        </p:spPr>
        <p:txBody>
          <a:bodyPr wrap="square" lIns="0" tIns="0" rIns="0" bIns="0" rtlCol="0" anchor="t"/>
          <a:lstStyle/>
          <a:p>
            <a:pPr indent="0" marL="0">
              <a:buNone/>
            </a:pPr>
            <a:r>
              <a:rPr lang="en-US" sz="1500" b="1" dirty="0">
                <a:solidFill>
                  <a:schemeClr val="tx1"/>
                </a:solidFill>
              </a:rPr>
              <a:t>Dedicated Network Firewall</a:t>
            </a:r>
            <a:endParaRPr lang="en-US" sz="1500" dirty="0"/>
          </a:p>
        </p:txBody>
      </p:sp>
      <p:sp>
        <p:nvSpPr>
          <p:cNvPr id="26" name="Text 23"/>
          <p:cNvSpPr txBox="1"/>
          <p:nvPr/>
        </p:nvSpPr>
        <p:spPr>
          <a:xfrm>
            <a:off x="9509760" y="3429000"/>
            <a:ext cx="1828800" cy="365760"/>
          </a:xfrm>
          <a:prstGeom prst="rect">
            <a:avLst/>
          </a:prstGeom>
          <a:noFill/>
          <a:ln/>
        </p:spPr>
        <p:txBody>
          <a:bodyPr wrap="square" lIns="0" tIns="0" rIns="0" bIns="0" rtlCol="0" anchor="t"/>
          <a:lstStyle/>
          <a:p>
            <a:pPr algn="r" indent="0" marL="0">
              <a:buNone/>
            </a:pPr>
            <a:r>
              <a:rPr lang="en-US" sz="1500" b="1" dirty="0">
                <a:solidFill>
                  <a:schemeClr val="accent1"/>
                </a:solidFill>
              </a:rPr>
              <a:t>SAR 10,000</a:t>
            </a:r>
            <a:endParaRPr lang="en-US" sz="1500" dirty="0"/>
          </a:p>
        </p:txBody>
      </p:sp>
      <p:sp>
        <p:nvSpPr>
          <p:cNvPr id="27" name="Text 24"/>
          <p:cNvSpPr txBox="1"/>
          <p:nvPr/>
        </p:nvSpPr>
        <p:spPr>
          <a:xfrm>
            <a:off x="6858000" y="3813048"/>
            <a:ext cx="4480560" cy="365760"/>
          </a:xfrm>
          <a:prstGeom prst="rect">
            <a:avLst/>
          </a:prstGeom>
          <a:noFill/>
          <a:ln/>
        </p:spPr>
        <p:txBody>
          <a:bodyPr wrap="square" lIns="0" tIns="0" rIns="0" bIns="0" rtlCol="0" anchor="t"/>
          <a:lstStyle/>
          <a:p>
            <a:pPr indent="0" marL="0">
              <a:buNone/>
            </a:pPr>
            <a:r>
              <a:rPr lang="en-US" sz="1300" dirty="0">
                <a:solidFill>
                  <a:schemeClr val="accent5"/>
                </a:solidFill>
              </a:rPr>
              <a:t>or shared hub firewall: SAR 2,500</a:t>
            </a:r>
            <a:endParaRPr lang="en-US" sz="1300" dirty="0"/>
          </a:p>
        </p:txBody>
      </p:sp>
      <p:sp>
        <p:nvSpPr>
          <p:cNvPr id="28" name="Text 25"/>
          <p:cNvSpPr txBox="1"/>
          <p:nvPr/>
        </p:nvSpPr>
        <p:spPr>
          <a:xfrm>
            <a:off x="6858000" y="4389120"/>
            <a:ext cx="2926080" cy="365760"/>
          </a:xfrm>
          <a:prstGeom prst="rect">
            <a:avLst/>
          </a:prstGeom>
          <a:noFill/>
          <a:ln/>
        </p:spPr>
        <p:txBody>
          <a:bodyPr wrap="square" lIns="0" tIns="0" rIns="0" bIns="0" rtlCol="0" anchor="t"/>
          <a:lstStyle/>
          <a:p>
            <a:pPr indent="0" marL="0">
              <a:buNone/>
            </a:pPr>
            <a:r>
              <a:rPr lang="en-US" sz="1500" b="1" dirty="0">
                <a:solidFill>
                  <a:schemeClr val="tx1"/>
                </a:solidFill>
              </a:rPr>
              <a:t>FastConnect 1 Gbps</a:t>
            </a:r>
            <a:endParaRPr lang="en-US" sz="1500" dirty="0"/>
          </a:p>
        </p:txBody>
      </p:sp>
      <p:sp>
        <p:nvSpPr>
          <p:cNvPr id="29" name="Text 26"/>
          <p:cNvSpPr txBox="1"/>
          <p:nvPr/>
        </p:nvSpPr>
        <p:spPr>
          <a:xfrm>
            <a:off x="9509760" y="4389120"/>
            <a:ext cx="1828800" cy="365760"/>
          </a:xfrm>
          <a:prstGeom prst="rect">
            <a:avLst/>
          </a:prstGeom>
          <a:noFill/>
          <a:ln/>
        </p:spPr>
        <p:txBody>
          <a:bodyPr wrap="square" lIns="0" tIns="0" rIns="0" bIns="0" rtlCol="0" anchor="t"/>
          <a:lstStyle/>
          <a:p>
            <a:pPr algn="r" indent="0" marL="0">
              <a:buNone/>
            </a:pPr>
            <a:r>
              <a:rPr lang="en-US" sz="1500" b="1" dirty="0">
                <a:solidFill>
                  <a:schemeClr val="accent1"/>
                </a:solidFill>
              </a:rPr>
              <a:t>SAR 1,500</a:t>
            </a:r>
            <a:endParaRPr lang="en-US" sz="1500" dirty="0"/>
          </a:p>
        </p:txBody>
      </p:sp>
      <p:sp>
        <p:nvSpPr>
          <p:cNvPr id="30" name="Text 27"/>
          <p:cNvSpPr txBox="1"/>
          <p:nvPr/>
        </p:nvSpPr>
        <p:spPr>
          <a:xfrm>
            <a:off x="6858000" y="4773168"/>
            <a:ext cx="4480560" cy="365760"/>
          </a:xfrm>
          <a:prstGeom prst="rect">
            <a:avLst/>
          </a:prstGeom>
          <a:noFill/>
          <a:ln/>
        </p:spPr>
        <p:txBody>
          <a:bodyPr wrap="square" lIns="0" tIns="0" rIns="0" bIns="0" rtlCol="0" anchor="t"/>
          <a:lstStyle/>
          <a:p>
            <a:pPr indent="0" marL="0">
              <a:buNone/>
            </a:pPr>
            <a:r>
              <a:rPr lang="en-US" sz="1300" dirty="0">
                <a:solidFill>
                  <a:schemeClr val="accent5"/>
                </a:solidFill>
              </a:rPr>
              <a:t>plus partner cross-connect at cost</a:t>
            </a:r>
            <a:endParaRPr lang="en-US" sz="1300" dirty="0"/>
          </a:p>
        </p:txBody>
      </p:sp>
      <p:sp>
        <p:nvSpPr>
          <p:cNvPr id="31" name="Text 28"/>
          <p:cNvSpPr txBox="1"/>
          <p:nvPr/>
        </p:nvSpPr>
        <p:spPr>
          <a:xfrm>
            <a:off x="6858000" y="5257800"/>
            <a:ext cx="4480560" cy="457200"/>
          </a:xfrm>
          <a:prstGeom prst="rect">
            <a:avLst/>
          </a:prstGeom>
          <a:noFill/>
          <a:ln/>
        </p:spPr>
        <p:txBody>
          <a:bodyPr wrap="square" lIns="0" tIns="0" rIns="0" bIns="0" rtlCol="0" anchor="t"/>
          <a:lstStyle/>
          <a:p>
            <a:pPr indent="0" marL="0">
              <a:buNone/>
            </a:pPr>
            <a:r>
              <a:rPr lang="en-US" sz="1200" i="1" dirty="0">
                <a:solidFill>
                  <a:schemeClr val="accent5"/>
                </a:solidFill>
              </a:rPr>
              <a:t>These options cost Oracle more than a whole Enterprise S cell, so they are never bundled into the base price.</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Add-ons and pass-through costs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120640"/>
                <a:gridCol w="3657600"/>
                <a:gridCol w="2286000"/>
              </a:tblGrid>
              <a:tr h="475488">
                <a:tc>
                  <a:txBody>
                    <a:bodyPr/>
                    <a:lstStyle/>
                    <a:p>
                      <a:pPr algn="l" indent="0" marL="0">
                        <a:buNone/>
                      </a:pPr>
                      <a:r>
                        <a:rPr lang="en-US" sz="1400" b="1" dirty="0">
                          <a:solidFill>
                            <a:schemeClr val="bg1"/>
                          </a:solidFill>
                        </a:rPr>
                        <a:t>Add-on</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Available on</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SAR / month</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75488">
                <a:tc>
                  <a:txBody>
                    <a:bodyPr/>
                    <a:lstStyle/>
                    <a:p>
                      <a:pPr algn="l" indent="0" marL="0">
                        <a:buNone/>
                      </a:pPr>
                      <a:r>
                        <a:rPr lang="en-US" sz="1400" b="1" dirty="0">
                          <a:solidFill>
                            <a:schemeClr val="tx1"/>
                          </a:solidFill>
                        </a:rPr>
                        <a:t>Jeddah DR warm standby</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Business S / M / L</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500 / 1,000 / 2,000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Extra environment (non-prod, no HA)</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Business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600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Event and SIEM export stream</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Business (included in Enterprise)</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400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Premium support, 24/7, 1-hour response</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Business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20% of plan, min 1,500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Nafath connector (customer's own Elm credentials)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Starter (included in Business+)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250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Custom domain</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Starter (included in Business+)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75</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SMS OTP, Nafath and Yakeen fees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All tiers</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At cost + 10%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badge LuReceipt"/>
          <p:cNvSpPr/>
          <p:nvPr/>
        </p:nvSpPr>
        <p:spPr>
          <a:xfrm>
            <a:off x="548640" y="5486400"/>
            <a:ext cx="457200" cy="457200"/>
          </a:xfrm>
          <a:prstGeom prst="ellipse">
            <a:avLst/>
          </a:prstGeom>
          <a:solidFill>
            <a:schemeClr val="bg2"/>
          </a:solidFill>
          <a:ln/>
        </p:spPr>
      </p:sp>
      <p:pic>
        <p:nvPicPr>
          <p:cNvPr id="5" name="icon LuReceipt" descr="preencoded.png">    </p:cNvPr>
          <p:cNvPicPr>
            <a:picLocks noChangeAspect="1"/>
          </p:cNvPicPr>
          <p:nvPr/>
        </p:nvPicPr>
        <p:blipFill>
          <a:blip r:embed="rId1"/>
          <a:stretch>
            <a:fillRect/>
          </a:stretch>
        </p:blipFill>
        <p:spPr>
          <a:xfrm>
            <a:off x="658368" y="5596128"/>
            <a:ext cx="237744" cy="237744"/>
          </a:xfrm>
          <a:prstGeom prst="rect">
            <a:avLst/>
          </a:prstGeom>
        </p:spPr>
      </p:pic>
      <p:sp>
        <p:nvSpPr>
          <p:cNvPr id="6" name="Text 2"/>
          <p:cNvSpPr txBox="1"/>
          <p:nvPr/>
        </p:nvSpPr>
        <p:spPr>
          <a:xfrm>
            <a:off x="1143000" y="5550408"/>
            <a:ext cx="10424160" cy="457200"/>
          </a:xfrm>
          <a:prstGeom prst="rect">
            <a:avLst/>
          </a:prstGeom>
          <a:noFill/>
          <a:ln/>
        </p:spPr>
        <p:txBody>
          <a:bodyPr wrap="square" lIns="0" tIns="0" rIns="0" bIns="0" rtlCol="0" anchor="t"/>
          <a:lstStyle/>
          <a:p>
            <a:pPr indent="0" marL="0">
              <a:buNone/>
            </a:pPr>
            <a:r>
              <a:rPr lang="en-US" sz="1300" dirty="0">
                <a:solidFill>
                  <a:schemeClr val="accent5"/>
                </a:solidFill>
              </a:rPr>
              <a:t>Pass-through costs stay outside the plan price, so heavy SMS or Nafath users never erode the margin.</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Oracle runs the heavy lifting, we run Keycloak</a:t>
            </a:r>
            <a:endParaRPr lang="en-US" sz="3400" dirty="0"/>
          </a:p>
        </p:txBody>
      </p:sp>
      <p:sp>
        <p:nvSpPr>
          <p:cNvPr id="3" name="Text 1"/>
          <p:cNvSpPr txBox="1"/>
          <p:nvPr/>
        </p:nvSpPr>
        <p:spPr>
          <a:xfrm>
            <a:off x="548640" y="1371600"/>
            <a:ext cx="530352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OCI managed</a:t>
            </a:r>
            <a:endParaRPr lang="en-US" sz="2000" dirty="0"/>
          </a:p>
        </p:txBody>
      </p:sp>
      <p:sp>
        <p:nvSpPr>
          <p:cNvPr id="4" name="Text 2"/>
          <p:cNvSpPr txBox="1"/>
          <p:nvPr/>
        </p:nvSpPr>
        <p:spPr>
          <a:xfrm>
            <a:off x="6309360" y="1371600"/>
            <a:ext cx="530352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We run</a:t>
            </a:r>
            <a:endParaRPr lang="en-US" sz="2000" dirty="0"/>
          </a:p>
        </p:txBody>
      </p:sp>
      <p:sp>
        <p:nvSpPr>
          <p:cNvPr id="5" name="badge LuLayers"/>
          <p:cNvSpPr/>
          <p:nvPr/>
        </p:nvSpPr>
        <p:spPr>
          <a:xfrm>
            <a:off x="548640" y="1874520"/>
            <a:ext cx="548640" cy="548640"/>
          </a:xfrm>
          <a:prstGeom prst="ellipse">
            <a:avLst/>
          </a:prstGeom>
          <a:solidFill>
            <a:schemeClr val="accent1"/>
          </a:solidFill>
          <a:ln/>
        </p:spPr>
      </p:sp>
      <p:pic>
        <p:nvPicPr>
          <p:cNvPr id="6" name="icon LuLayers" descr="preencoded.png">    </p:cNvPr>
          <p:cNvPicPr>
            <a:picLocks noChangeAspect="1"/>
          </p:cNvPicPr>
          <p:nvPr/>
        </p:nvPicPr>
        <p:blipFill>
          <a:blip r:embed="rId1"/>
          <a:stretch>
            <a:fillRect/>
          </a:stretch>
        </p:blipFill>
        <p:spPr>
          <a:xfrm>
            <a:off x="680314" y="2006194"/>
            <a:ext cx="285293" cy="285293"/>
          </a:xfrm>
          <a:prstGeom prst="rect">
            <a:avLst/>
          </a:prstGeom>
        </p:spPr>
      </p:pic>
      <p:sp>
        <p:nvSpPr>
          <p:cNvPr id="7" name="Text 4"/>
          <p:cNvSpPr txBox="1"/>
          <p:nvPr/>
        </p:nvSpPr>
        <p:spPr>
          <a:xfrm>
            <a:off x="1280160" y="1892808"/>
            <a:ext cx="4572000" cy="292608"/>
          </a:xfrm>
          <a:prstGeom prst="rect">
            <a:avLst/>
          </a:prstGeom>
          <a:noFill/>
          <a:ln/>
        </p:spPr>
        <p:txBody>
          <a:bodyPr wrap="square" lIns="0" tIns="0" rIns="0" bIns="0" rtlCol="0" anchor="t"/>
          <a:lstStyle/>
          <a:p>
            <a:pPr indent="0" marL="0">
              <a:buNone/>
            </a:pPr>
            <a:r>
              <a:rPr lang="en-US" sz="1500" b="1" dirty="0">
                <a:solidFill>
                  <a:schemeClr val="tx1"/>
                </a:solidFill>
              </a:rPr>
              <a:t>Kubernetes (OKE)</a:t>
            </a:r>
            <a:endParaRPr lang="en-US" sz="1500" dirty="0"/>
          </a:p>
        </p:txBody>
      </p:sp>
      <p:sp>
        <p:nvSpPr>
          <p:cNvPr id="8" name="Text 5"/>
          <p:cNvSpPr txBox="1"/>
          <p:nvPr/>
        </p:nvSpPr>
        <p:spPr>
          <a:xfrm>
            <a:off x="1280160" y="216712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control plane, add-ons, node upgrades</a:t>
            </a:r>
            <a:endParaRPr lang="en-US" sz="1300" dirty="0"/>
          </a:p>
        </p:txBody>
      </p:sp>
      <p:sp>
        <p:nvSpPr>
          <p:cNvPr id="9" name="badge LuDatabase"/>
          <p:cNvSpPr/>
          <p:nvPr/>
        </p:nvSpPr>
        <p:spPr>
          <a:xfrm>
            <a:off x="548640" y="2651760"/>
            <a:ext cx="548640" cy="548640"/>
          </a:xfrm>
          <a:prstGeom prst="ellipse">
            <a:avLst/>
          </a:prstGeom>
          <a:solidFill>
            <a:schemeClr val="accent1"/>
          </a:solidFill>
          <a:ln/>
        </p:spPr>
      </p:sp>
      <p:pic>
        <p:nvPicPr>
          <p:cNvPr id="10" name="icon LuDatabase" descr="preencoded.png">    </p:cNvPr>
          <p:cNvPicPr>
            <a:picLocks noChangeAspect="1"/>
          </p:cNvPicPr>
          <p:nvPr/>
        </p:nvPicPr>
        <p:blipFill>
          <a:blip r:embed="rId2"/>
          <a:stretch>
            <a:fillRect/>
          </a:stretch>
        </p:blipFill>
        <p:spPr>
          <a:xfrm>
            <a:off x="680314" y="2783434"/>
            <a:ext cx="285293" cy="285293"/>
          </a:xfrm>
          <a:prstGeom prst="rect">
            <a:avLst/>
          </a:prstGeom>
        </p:spPr>
      </p:pic>
      <p:sp>
        <p:nvSpPr>
          <p:cNvPr id="11" name="Text 7"/>
          <p:cNvSpPr txBox="1"/>
          <p:nvPr/>
        </p:nvSpPr>
        <p:spPr>
          <a:xfrm>
            <a:off x="1280160" y="2670048"/>
            <a:ext cx="4572000" cy="292608"/>
          </a:xfrm>
          <a:prstGeom prst="rect">
            <a:avLst/>
          </a:prstGeom>
          <a:noFill/>
          <a:ln/>
        </p:spPr>
        <p:txBody>
          <a:bodyPr wrap="square" lIns="0" tIns="0" rIns="0" bIns="0" rtlCol="0" anchor="t"/>
          <a:lstStyle/>
          <a:p>
            <a:pPr indent="0" marL="0">
              <a:buNone/>
            </a:pPr>
            <a:r>
              <a:rPr lang="en-US" sz="1500" b="1" dirty="0">
                <a:solidFill>
                  <a:schemeClr val="tx1"/>
                </a:solidFill>
              </a:rPr>
              <a:t>PostgreSQL</a:t>
            </a:r>
            <a:endParaRPr lang="en-US" sz="1500" dirty="0"/>
          </a:p>
        </p:txBody>
      </p:sp>
      <p:sp>
        <p:nvSpPr>
          <p:cNvPr id="12" name="Text 8"/>
          <p:cNvSpPr txBox="1"/>
          <p:nvPr/>
        </p:nvSpPr>
        <p:spPr>
          <a:xfrm>
            <a:off x="1280160" y="294436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HA, backups, point-in-time restore</a:t>
            </a:r>
            <a:endParaRPr lang="en-US" sz="1300" dirty="0"/>
          </a:p>
        </p:txBody>
      </p:sp>
      <p:sp>
        <p:nvSpPr>
          <p:cNvPr id="13" name="badge LuKeyRound"/>
          <p:cNvSpPr/>
          <p:nvPr/>
        </p:nvSpPr>
        <p:spPr>
          <a:xfrm>
            <a:off x="548640" y="3429000"/>
            <a:ext cx="548640" cy="548640"/>
          </a:xfrm>
          <a:prstGeom prst="ellipse">
            <a:avLst/>
          </a:prstGeom>
          <a:solidFill>
            <a:schemeClr val="accent1"/>
          </a:solidFill>
          <a:ln/>
        </p:spPr>
      </p:sp>
      <p:pic>
        <p:nvPicPr>
          <p:cNvPr id="14" name="icon LuKeyRound" descr="preencoded.png">    </p:cNvPr>
          <p:cNvPicPr>
            <a:picLocks noChangeAspect="1"/>
          </p:cNvPicPr>
          <p:nvPr/>
        </p:nvPicPr>
        <p:blipFill>
          <a:blip r:embed="rId3"/>
          <a:stretch>
            <a:fillRect/>
          </a:stretch>
        </p:blipFill>
        <p:spPr>
          <a:xfrm>
            <a:off x="680314" y="3560674"/>
            <a:ext cx="285293" cy="285293"/>
          </a:xfrm>
          <a:prstGeom prst="rect">
            <a:avLst/>
          </a:prstGeom>
        </p:spPr>
      </p:pic>
      <p:sp>
        <p:nvSpPr>
          <p:cNvPr id="15" name="Text 10"/>
          <p:cNvSpPr txBox="1"/>
          <p:nvPr/>
        </p:nvSpPr>
        <p:spPr>
          <a:xfrm>
            <a:off x="1280160" y="3447288"/>
            <a:ext cx="4572000" cy="292608"/>
          </a:xfrm>
          <a:prstGeom prst="rect">
            <a:avLst/>
          </a:prstGeom>
          <a:noFill/>
          <a:ln/>
        </p:spPr>
        <p:txBody>
          <a:bodyPr wrap="square" lIns="0" tIns="0" rIns="0" bIns="0" rtlCol="0" anchor="t"/>
          <a:lstStyle/>
          <a:p>
            <a:pPr indent="0" marL="0">
              <a:buNone/>
            </a:pPr>
            <a:r>
              <a:rPr lang="en-US" sz="1500" b="1" dirty="0">
                <a:solidFill>
                  <a:schemeClr val="tx1"/>
                </a:solidFill>
              </a:rPr>
              <a:t>Vault and HSM</a:t>
            </a:r>
            <a:endParaRPr lang="en-US" sz="1500" dirty="0"/>
          </a:p>
        </p:txBody>
      </p:sp>
      <p:sp>
        <p:nvSpPr>
          <p:cNvPr id="16" name="Text 11"/>
          <p:cNvSpPr txBox="1"/>
          <p:nvPr/>
        </p:nvSpPr>
        <p:spPr>
          <a:xfrm>
            <a:off x="1280160" y="372160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keys, secrets, customer-held keys</a:t>
            </a:r>
            <a:endParaRPr lang="en-US" sz="1300" dirty="0"/>
          </a:p>
        </p:txBody>
      </p:sp>
      <p:sp>
        <p:nvSpPr>
          <p:cNvPr id="17" name="badge LuShieldCheck"/>
          <p:cNvSpPr/>
          <p:nvPr/>
        </p:nvSpPr>
        <p:spPr>
          <a:xfrm>
            <a:off x="548640" y="4206240"/>
            <a:ext cx="548640" cy="548640"/>
          </a:xfrm>
          <a:prstGeom prst="ellipse">
            <a:avLst/>
          </a:prstGeom>
          <a:solidFill>
            <a:schemeClr val="accent1"/>
          </a:solidFill>
          <a:ln/>
        </p:spPr>
      </p:sp>
      <p:pic>
        <p:nvPicPr>
          <p:cNvPr id="18" name="icon LuShieldCheck" descr="preencoded.png">    </p:cNvPr>
          <p:cNvPicPr>
            <a:picLocks noChangeAspect="1"/>
          </p:cNvPicPr>
          <p:nvPr/>
        </p:nvPicPr>
        <p:blipFill>
          <a:blip r:embed="rId4"/>
          <a:stretch>
            <a:fillRect/>
          </a:stretch>
        </p:blipFill>
        <p:spPr>
          <a:xfrm>
            <a:off x="680314" y="4337914"/>
            <a:ext cx="285293" cy="285293"/>
          </a:xfrm>
          <a:prstGeom prst="rect">
            <a:avLst/>
          </a:prstGeom>
        </p:spPr>
      </p:pic>
      <p:sp>
        <p:nvSpPr>
          <p:cNvPr id="19" name="Text 13"/>
          <p:cNvSpPr txBox="1"/>
          <p:nvPr/>
        </p:nvSpPr>
        <p:spPr>
          <a:xfrm>
            <a:off x="1280160" y="4224528"/>
            <a:ext cx="4572000" cy="292608"/>
          </a:xfrm>
          <a:prstGeom prst="rect">
            <a:avLst/>
          </a:prstGeom>
          <a:noFill/>
          <a:ln/>
        </p:spPr>
        <p:txBody>
          <a:bodyPr wrap="square" lIns="0" tIns="0" rIns="0" bIns="0" rtlCol="0" anchor="t"/>
          <a:lstStyle/>
          <a:p>
            <a:pPr indent="0" marL="0">
              <a:buNone/>
            </a:pPr>
            <a:r>
              <a:rPr lang="en-US" sz="1500" b="1" dirty="0">
                <a:solidFill>
                  <a:schemeClr val="tx1"/>
                </a:solidFill>
              </a:rPr>
              <a:t>WAF, load balancing, SIEM</a:t>
            </a:r>
            <a:endParaRPr lang="en-US" sz="1500" dirty="0"/>
          </a:p>
        </p:txBody>
      </p:sp>
      <p:sp>
        <p:nvSpPr>
          <p:cNvPr id="20" name="Text 14"/>
          <p:cNvSpPr txBox="1"/>
          <p:nvPr/>
        </p:nvSpPr>
        <p:spPr>
          <a:xfrm>
            <a:off x="1280160" y="449884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Logging Analytics, Cloud Guard</a:t>
            </a:r>
            <a:endParaRPr lang="en-US" sz="1300" dirty="0"/>
          </a:p>
        </p:txBody>
      </p:sp>
      <p:sp>
        <p:nvSpPr>
          <p:cNvPr id="21" name="badge LuWorkflow"/>
          <p:cNvSpPr/>
          <p:nvPr/>
        </p:nvSpPr>
        <p:spPr>
          <a:xfrm>
            <a:off x="548640" y="4983480"/>
            <a:ext cx="548640" cy="548640"/>
          </a:xfrm>
          <a:prstGeom prst="ellipse">
            <a:avLst/>
          </a:prstGeom>
          <a:solidFill>
            <a:schemeClr val="accent1"/>
          </a:solidFill>
          <a:ln/>
        </p:spPr>
      </p:sp>
      <p:pic>
        <p:nvPicPr>
          <p:cNvPr id="22" name="icon LuWorkflow" descr="preencoded.png">    </p:cNvPr>
          <p:cNvPicPr>
            <a:picLocks noChangeAspect="1"/>
          </p:cNvPicPr>
          <p:nvPr/>
        </p:nvPicPr>
        <p:blipFill>
          <a:blip r:embed="rId5"/>
          <a:stretch>
            <a:fillRect/>
          </a:stretch>
        </p:blipFill>
        <p:spPr>
          <a:xfrm>
            <a:off x="680314" y="5115154"/>
            <a:ext cx="285293" cy="285293"/>
          </a:xfrm>
          <a:prstGeom prst="rect">
            <a:avLst/>
          </a:prstGeom>
        </p:spPr>
      </p:pic>
      <p:sp>
        <p:nvSpPr>
          <p:cNvPr id="23" name="Text 16"/>
          <p:cNvSpPr txBox="1"/>
          <p:nvPr/>
        </p:nvSpPr>
        <p:spPr>
          <a:xfrm>
            <a:off x="1280160" y="5001768"/>
            <a:ext cx="4572000" cy="292608"/>
          </a:xfrm>
          <a:prstGeom prst="rect">
            <a:avLst/>
          </a:prstGeom>
          <a:noFill/>
          <a:ln/>
        </p:spPr>
        <p:txBody>
          <a:bodyPr wrap="square" lIns="0" tIns="0" rIns="0" bIns="0" rtlCol="0" anchor="t"/>
          <a:lstStyle/>
          <a:p>
            <a:pPr indent="0" marL="0">
              <a:buNone/>
            </a:pPr>
            <a:r>
              <a:rPr lang="en-US" sz="1500" b="1" dirty="0">
                <a:solidFill>
                  <a:schemeClr val="tx1"/>
                </a:solidFill>
              </a:rPr>
              <a:t>Resource Manager</a:t>
            </a:r>
            <a:endParaRPr lang="en-US" sz="1500" dirty="0"/>
          </a:p>
        </p:txBody>
      </p:sp>
      <p:sp>
        <p:nvSpPr>
          <p:cNvPr id="24" name="Text 17"/>
          <p:cNvSpPr txBox="1"/>
          <p:nvPr/>
        </p:nvSpPr>
        <p:spPr>
          <a:xfrm>
            <a:off x="1280160" y="527608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Terraform state, audit, drift</a:t>
            </a:r>
            <a:endParaRPr lang="en-US" sz="1300" dirty="0"/>
          </a:p>
        </p:txBody>
      </p:sp>
      <p:sp>
        <p:nvSpPr>
          <p:cNvPr id="25" name="badge LuBoxes"/>
          <p:cNvSpPr/>
          <p:nvPr/>
        </p:nvSpPr>
        <p:spPr>
          <a:xfrm>
            <a:off x="6309360" y="1874520"/>
            <a:ext cx="548640" cy="548640"/>
          </a:xfrm>
          <a:prstGeom prst="ellipse">
            <a:avLst/>
          </a:prstGeom>
          <a:solidFill>
            <a:schemeClr val="bg2"/>
          </a:solidFill>
          <a:ln/>
        </p:spPr>
      </p:sp>
      <p:pic>
        <p:nvPicPr>
          <p:cNvPr id="26" name="icon LuBoxes" descr="preencoded.png">    </p:cNvPr>
          <p:cNvPicPr>
            <a:picLocks noChangeAspect="1"/>
          </p:cNvPicPr>
          <p:nvPr/>
        </p:nvPicPr>
        <p:blipFill>
          <a:blip r:embed="rId6"/>
          <a:stretch>
            <a:fillRect/>
          </a:stretch>
        </p:blipFill>
        <p:spPr>
          <a:xfrm>
            <a:off x="6441034" y="2006194"/>
            <a:ext cx="285293" cy="285293"/>
          </a:xfrm>
          <a:prstGeom prst="rect">
            <a:avLst/>
          </a:prstGeom>
        </p:spPr>
      </p:pic>
      <p:sp>
        <p:nvSpPr>
          <p:cNvPr id="27" name="Text 19"/>
          <p:cNvSpPr txBox="1"/>
          <p:nvPr/>
        </p:nvSpPr>
        <p:spPr>
          <a:xfrm>
            <a:off x="7040880" y="1892808"/>
            <a:ext cx="4572000" cy="292608"/>
          </a:xfrm>
          <a:prstGeom prst="rect">
            <a:avLst/>
          </a:prstGeom>
          <a:noFill/>
          <a:ln/>
        </p:spPr>
        <p:txBody>
          <a:bodyPr wrap="square" lIns="0" tIns="0" rIns="0" bIns="0" rtlCol="0" anchor="t"/>
          <a:lstStyle/>
          <a:p>
            <a:pPr indent="0" marL="0">
              <a:buNone/>
            </a:pPr>
            <a:r>
              <a:rPr lang="en-US" sz="1500" b="1" dirty="0">
                <a:solidFill>
                  <a:schemeClr val="tx1"/>
                </a:solidFill>
              </a:rPr>
              <a:t>Keycloak + Operator</a:t>
            </a:r>
            <a:endParaRPr lang="en-US" sz="1500" dirty="0"/>
          </a:p>
        </p:txBody>
      </p:sp>
      <p:sp>
        <p:nvSpPr>
          <p:cNvPr id="28" name="Text 20"/>
          <p:cNvSpPr txBox="1"/>
          <p:nvPr/>
        </p:nvSpPr>
        <p:spPr>
          <a:xfrm>
            <a:off x="7040880" y="216712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no managed Keycloak exists</a:t>
            </a:r>
            <a:endParaRPr lang="en-US" sz="1300" dirty="0"/>
          </a:p>
        </p:txBody>
      </p:sp>
      <p:sp>
        <p:nvSpPr>
          <p:cNvPr id="29" name="badge LuNetwork"/>
          <p:cNvSpPr/>
          <p:nvPr/>
        </p:nvSpPr>
        <p:spPr>
          <a:xfrm>
            <a:off x="6309360" y="2651760"/>
            <a:ext cx="548640" cy="548640"/>
          </a:xfrm>
          <a:prstGeom prst="ellipse">
            <a:avLst/>
          </a:prstGeom>
          <a:solidFill>
            <a:schemeClr val="bg2"/>
          </a:solidFill>
          <a:ln/>
        </p:spPr>
      </p:sp>
      <p:pic>
        <p:nvPicPr>
          <p:cNvPr id="30" name="icon LuNetwork" descr="preencoded.png">    </p:cNvPr>
          <p:cNvPicPr>
            <a:picLocks noChangeAspect="1"/>
          </p:cNvPicPr>
          <p:nvPr/>
        </p:nvPicPr>
        <p:blipFill>
          <a:blip r:embed="rId7"/>
          <a:stretch>
            <a:fillRect/>
          </a:stretch>
        </p:blipFill>
        <p:spPr>
          <a:xfrm>
            <a:off x="6441034" y="2783434"/>
            <a:ext cx="285293" cy="285293"/>
          </a:xfrm>
          <a:prstGeom prst="rect">
            <a:avLst/>
          </a:prstGeom>
        </p:spPr>
      </p:pic>
      <p:sp>
        <p:nvSpPr>
          <p:cNvPr id="31" name="Text 22"/>
          <p:cNvSpPr txBox="1"/>
          <p:nvPr/>
        </p:nvSpPr>
        <p:spPr>
          <a:xfrm>
            <a:off x="7040880" y="2670048"/>
            <a:ext cx="4572000" cy="292608"/>
          </a:xfrm>
          <a:prstGeom prst="rect">
            <a:avLst/>
          </a:prstGeom>
          <a:noFill/>
          <a:ln/>
        </p:spPr>
        <p:txBody>
          <a:bodyPr wrap="square" lIns="0" tIns="0" rIns="0" bIns="0" rtlCol="0" anchor="t"/>
          <a:lstStyle/>
          <a:p>
            <a:pPr indent="0" marL="0">
              <a:buNone/>
            </a:pPr>
            <a:r>
              <a:rPr lang="en-US" sz="1500" b="1" dirty="0">
                <a:solidFill>
                  <a:schemeClr val="tx1"/>
                </a:solidFill>
              </a:rPr>
              <a:t>Envoy + cert-manager</a:t>
            </a:r>
            <a:endParaRPr lang="en-US" sz="1500" dirty="0"/>
          </a:p>
        </p:txBody>
      </p:sp>
      <p:sp>
        <p:nvSpPr>
          <p:cNvPr id="32" name="Text 23"/>
          <p:cNvSpPr txBox="1"/>
          <p:nvPr/>
        </p:nvSpPr>
        <p:spPr>
          <a:xfrm>
            <a:off x="7040880" y="294436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thousands of customer domains</a:t>
            </a:r>
            <a:endParaRPr lang="en-US" sz="1300" dirty="0"/>
          </a:p>
        </p:txBody>
      </p:sp>
      <p:sp>
        <p:nvSpPr>
          <p:cNvPr id="33" name="badge LuReceipt"/>
          <p:cNvSpPr/>
          <p:nvPr/>
        </p:nvSpPr>
        <p:spPr>
          <a:xfrm>
            <a:off x="6309360" y="3429000"/>
            <a:ext cx="548640" cy="548640"/>
          </a:xfrm>
          <a:prstGeom prst="ellipse">
            <a:avLst/>
          </a:prstGeom>
          <a:solidFill>
            <a:schemeClr val="bg2"/>
          </a:solidFill>
          <a:ln/>
        </p:spPr>
      </p:sp>
      <p:pic>
        <p:nvPicPr>
          <p:cNvPr id="34" name="icon LuReceipt" descr="preencoded.png">    </p:cNvPr>
          <p:cNvPicPr>
            <a:picLocks noChangeAspect="1"/>
          </p:cNvPicPr>
          <p:nvPr/>
        </p:nvPicPr>
        <p:blipFill>
          <a:blip r:embed="rId8"/>
          <a:stretch>
            <a:fillRect/>
          </a:stretch>
        </p:blipFill>
        <p:spPr>
          <a:xfrm>
            <a:off x="6441034" y="3560674"/>
            <a:ext cx="285293" cy="285293"/>
          </a:xfrm>
          <a:prstGeom prst="rect">
            <a:avLst/>
          </a:prstGeom>
        </p:spPr>
      </p:pic>
      <p:sp>
        <p:nvSpPr>
          <p:cNvPr id="35" name="Text 25"/>
          <p:cNvSpPr txBox="1"/>
          <p:nvPr/>
        </p:nvSpPr>
        <p:spPr>
          <a:xfrm>
            <a:off x="7040880" y="3447288"/>
            <a:ext cx="4572000" cy="292608"/>
          </a:xfrm>
          <a:prstGeom prst="rect">
            <a:avLst/>
          </a:prstGeom>
          <a:noFill/>
          <a:ln/>
        </p:spPr>
        <p:txBody>
          <a:bodyPr wrap="square" lIns="0" tIns="0" rIns="0" bIns="0" rtlCol="0" anchor="t"/>
          <a:lstStyle/>
          <a:p>
            <a:pPr indent="0" marL="0">
              <a:buNone/>
            </a:pPr>
            <a:r>
              <a:rPr lang="en-US" sz="1500" b="1" dirty="0">
                <a:solidFill>
                  <a:schemeClr val="tx1"/>
                </a:solidFill>
              </a:rPr>
              <a:t>Lago billing + ZATCA</a:t>
            </a:r>
            <a:endParaRPr lang="en-US" sz="1500" dirty="0"/>
          </a:p>
        </p:txBody>
      </p:sp>
      <p:sp>
        <p:nvSpPr>
          <p:cNvPr id="36" name="Text 26"/>
          <p:cNvSpPr txBox="1"/>
          <p:nvPr/>
        </p:nvSpPr>
        <p:spPr>
          <a:xfrm>
            <a:off x="7040880" y="372160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no OCI billing service</a:t>
            </a:r>
            <a:endParaRPr lang="en-US" sz="1300" dirty="0"/>
          </a:p>
        </p:txBody>
      </p:sp>
      <p:sp>
        <p:nvSpPr>
          <p:cNvPr id="37" name="badge LuCpu"/>
          <p:cNvSpPr/>
          <p:nvPr/>
        </p:nvSpPr>
        <p:spPr>
          <a:xfrm>
            <a:off x="6309360" y="4206240"/>
            <a:ext cx="548640" cy="548640"/>
          </a:xfrm>
          <a:prstGeom prst="ellipse">
            <a:avLst/>
          </a:prstGeom>
          <a:solidFill>
            <a:schemeClr val="bg2"/>
          </a:solidFill>
          <a:ln/>
        </p:spPr>
      </p:sp>
      <p:pic>
        <p:nvPicPr>
          <p:cNvPr id="38" name="icon LuCpu" descr="preencoded.png">    </p:cNvPr>
          <p:cNvPicPr>
            <a:picLocks noChangeAspect="1"/>
          </p:cNvPicPr>
          <p:nvPr/>
        </p:nvPicPr>
        <p:blipFill>
          <a:blip r:embed="rId9"/>
          <a:stretch>
            <a:fillRect/>
          </a:stretch>
        </p:blipFill>
        <p:spPr>
          <a:xfrm>
            <a:off x="6441034" y="4337914"/>
            <a:ext cx="285293" cy="285293"/>
          </a:xfrm>
          <a:prstGeom prst="rect">
            <a:avLst/>
          </a:prstGeom>
        </p:spPr>
      </p:pic>
      <p:sp>
        <p:nvSpPr>
          <p:cNvPr id="39" name="Text 28"/>
          <p:cNvSpPr txBox="1"/>
          <p:nvPr/>
        </p:nvSpPr>
        <p:spPr>
          <a:xfrm>
            <a:off x="7040880" y="4224528"/>
            <a:ext cx="4572000" cy="292608"/>
          </a:xfrm>
          <a:prstGeom prst="rect">
            <a:avLst/>
          </a:prstGeom>
          <a:noFill/>
          <a:ln/>
        </p:spPr>
        <p:txBody>
          <a:bodyPr wrap="square" lIns="0" tIns="0" rIns="0" bIns="0" rtlCol="0" anchor="t"/>
          <a:lstStyle/>
          <a:p>
            <a:pPr indent="0" marL="0">
              <a:buNone/>
            </a:pPr>
            <a:r>
              <a:rPr lang="en-US" sz="1500" b="1" dirty="0">
                <a:solidFill>
                  <a:schemeClr val="tx1"/>
                </a:solidFill>
              </a:rPr>
              <a:t>Zimam API, portal, cell agent</a:t>
            </a:r>
            <a:endParaRPr lang="en-US" sz="1500" dirty="0"/>
          </a:p>
        </p:txBody>
      </p:sp>
      <p:sp>
        <p:nvSpPr>
          <p:cNvPr id="40" name="Text 29"/>
          <p:cNvSpPr txBox="1"/>
          <p:nvPr/>
        </p:nvSpPr>
        <p:spPr>
          <a:xfrm>
            <a:off x="7040880" y="4498848"/>
            <a:ext cx="4572000" cy="274320"/>
          </a:xfrm>
          <a:prstGeom prst="rect">
            <a:avLst/>
          </a:prstGeom>
          <a:noFill/>
          <a:ln/>
        </p:spPr>
        <p:txBody>
          <a:bodyPr wrap="square" lIns="0" tIns="0" rIns="0" bIns="0" rtlCol="0" anchor="t"/>
          <a:lstStyle/>
          <a:p>
            <a:pPr indent="0" marL="0">
              <a:buNone/>
            </a:pPr>
            <a:r>
              <a:rPr lang="en-US" sz="1300" dirty="0">
                <a:solidFill>
                  <a:schemeClr val="accent5"/>
                </a:solidFill>
              </a:rPr>
              <a:t>the product itself</a:t>
            </a:r>
            <a:endParaRPr lang="en-US" sz="1300" dirty="0"/>
          </a:p>
        </p:txBody>
      </p:sp>
      <p:sp>
        <p:nvSpPr>
          <p:cNvPr id="41" name="availability note"/>
          <p:cNvSpPr/>
          <p:nvPr/>
        </p:nvSpPr>
        <p:spPr>
          <a:xfrm>
            <a:off x="6309360" y="5074920"/>
            <a:ext cx="5303520" cy="868680"/>
          </a:xfrm>
          <a:prstGeom prst="roundRect">
            <a:avLst>
              <a:gd name="adj" fmla="val 8421"/>
            </a:avLst>
          </a:prstGeom>
          <a:solidFill>
            <a:schemeClr val="bg2"/>
          </a:solidFill>
          <a:ln/>
        </p:spPr>
      </p:sp>
      <p:sp>
        <p:nvSpPr>
          <p:cNvPr id="42" name="Text 31"/>
          <p:cNvSpPr txBox="1"/>
          <p:nvPr/>
        </p:nvSpPr>
        <p:spPr>
          <a:xfrm>
            <a:off x="6537960" y="5212080"/>
            <a:ext cx="4846320" cy="640080"/>
          </a:xfrm>
          <a:prstGeom prst="rect">
            <a:avLst/>
          </a:prstGeom>
          <a:noFill/>
          <a:ln/>
        </p:spPr>
        <p:txBody>
          <a:bodyPr wrap="square" lIns="0" tIns="0" rIns="0" bIns="0" rtlCol="0" anchor="ctr"/>
          <a:lstStyle/>
          <a:p>
            <a:pPr indent="0" marL="0">
              <a:buNone/>
            </a:pPr>
            <a:r>
              <a:rPr lang="en-US" sz="1400" b="1" dirty="0">
                <a:solidFill>
                  <a:schemeClr val="tx2"/>
                </a:solidFill>
              </a:rPr>
              <a:t>Every service is confirmed live in both Riyadh and Jeddah (checked 7 October 2026).</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What each building block costs per month</a:t>
            </a:r>
            <a:endParaRPr lang="en-US" sz="3400" dirty="0"/>
          </a:p>
        </p:txBody>
      </p:sp>
      <p:graphicFrame>
        <p:nvGraphicFramePr>
          <p:cNvPr id="3" name="Chart 0" descr=""/>
          <p:cNvGraphicFramePr/>
          <p:nvPr/>
        </p:nvGraphicFramePr>
        <p:xfrm>
          <a:off x="54864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insight 1"/>
          <p:cNvSpPr/>
          <p:nvPr/>
        </p:nvSpPr>
        <p:spPr>
          <a:xfrm>
            <a:off x="8046720" y="1463040"/>
            <a:ext cx="3566160" cy="1371600"/>
          </a:xfrm>
          <a:prstGeom prst="roundRect">
            <a:avLst>
              <a:gd name="adj" fmla="val 5333"/>
            </a:avLst>
          </a:prstGeom>
          <a:solidFill>
            <a:schemeClr val="bg2"/>
          </a:solidFill>
          <a:ln/>
        </p:spPr>
      </p:sp>
      <p:sp>
        <p:nvSpPr>
          <p:cNvPr id="5" name="badge LuServer"/>
          <p:cNvSpPr/>
          <p:nvPr/>
        </p:nvSpPr>
        <p:spPr>
          <a:xfrm>
            <a:off x="8275320" y="1691640"/>
            <a:ext cx="502920" cy="502920"/>
          </a:xfrm>
          <a:prstGeom prst="ellipse">
            <a:avLst/>
          </a:prstGeom>
          <a:solidFill>
            <a:schemeClr val="bg1"/>
          </a:solidFill>
          <a:ln/>
        </p:spPr>
      </p:sp>
      <p:pic>
        <p:nvPicPr>
          <p:cNvPr id="6" name="icon LuServer" descr="preencoded.png">    </p:cNvPr>
          <p:cNvPicPr>
            <a:picLocks noChangeAspect="1"/>
          </p:cNvPicPr>
          <p:nvPr/>
        </p:nvPicPr>
        <p:blipFill>
          <a:blip r:embed="rId2"/>
          <a:stretch>
            <a:fillRect/>
          </a:stretch>
        </p:blipFill>
        <p:spPr>
          <a:xfrm>
            <a:off x="8396021" y="1812341"/>
            <a:ext cx="261518" cy="261518"/>
          </a:xfrm>
          <a:prstGeom prst="rect">
            <a:avLst/>
          </a:prstGeom>
        </p:spPr>
      </p:pic>
      <p:sp>
        <p:nvSpPr>
          <p:cNvPr id="7" name="Text 3"/>
          <p:cNvSpPr txBox="1"/>
          <p:nvPr/>
        </p:nvSpPr>
        <p:spPr>
          <a:xfrm>
            <a:off x="8961120" y="166420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SAR 11,703</a:t>
            </a:r>
            <a:endParaRPr lang="en-US" sz="1800" dirty="0"/>
          </a:p>
        </p:txBody>
      </p:sp>
      <p:sp>
        <p:nvSpPr>
          <p:cNvPr id="8" name="Text 4"/>
          <p:cNvSpPr txBox="1"/>
          <p:nvPr/>
        </p:nvSpPr>
        <p:spPr>
          <a:xfrm>
            <a:off x="8961120" y="2057400"/>
            <a:ext cx="2514600" cy="731520"/>
          </a:xfrm>
          <a:prstGeom prst="rect">
            <a:avLst/>
          </a:prstGeom>
          <a:noFill/>
          <a:ln/>
        </p:spPr>
        <p:txBody>
          <a:bodyPr wrap="square" lIns="0" tIns="0" rIns="0" bIns="0" rtlCol="0" anchor="t"/>
          <a:lstStyle/>
          <a:p>
            <a:pPr indent="0" marL="0">
              <a:buNone/>
            </a:pPr>
            <a:r>
              <a:rPr lang="en-US" sz="1200" dirty="0">
                <a:solidFill>
                  <a:schemeClr val="tx1"/>
                </a:solidFill>
              </a:rPr>
              <a:t>a month of infrastructure at launch: platform, staging and one pooled cell</a:t>
            </a:r>
            <a:endParaRPr lang="en-US" sz="1200" dirty="0"/>
          </a:p>
        </p:txBody>
      </p:sp>
      <p:sp>
        <p:nvSpPr>
          <p:cNvPr id="9" name="insight 2"/>
          <p:cNvSpPr/>
          <p:nvPr/>
        </p:nvSpPr>
        <p:spPr>
          <a:xfrm>
            <a:off x="8046720" y="3017520"/>
            <a:ext cx="3566160" cy="1371600"/>
          </a:xfrm>
          <a:prstGeom prst="roundRect">
            <a:avLst>
              <a:gd name="adj" fmla="val 5333"/>
            </a:avLst>
          </a:prstGeom>
          <a:solidFill>
            <a:schemeClr val="bg2"/>
          </a:solidFill>
          <a:ln/>
        </p:spPr>
      </p:sp>
      <p:sp>
        <p:nvSpPr>
          <p:cNvPr id="10" name="badge LuDatabase"/>
          <p:cNvSpPr/>
          <p:nvPr/>
        </p:nvSpPr>
        <p:spPr>
          <a:xfrm>
            <a:off x="8275320" y="3246120"/>
            <a:ext cx="502920" cy="502920"/>
          </a:xfrm>
          <a:prstGeom prst="ellipse">
            <a:avLst/>
          </a:prstGeom>
          <a:solidFill>
            <a:schemeClr val="bg1"/>
          </a:solidFill>
          <a:ln/>
        </p:spPr>
      </p:sp>
      <p:pic>
        <p:nvPicPr>
          <p:cNvPr id="11" name="icon LuDatabase" descr="preencoded.png">    </p:cNvPr>
          <p:cNvPicPr>
            <a:picLocks noChangeAspect="1"/>
          </p:cNvPicPr>
          <p:nvPr/>
        </p:nvPicPr>
        <p:blipFill>
          <a:blip r:embed="rId3"/>
          <a:stretch>
            <a:fillRect/>
          </a:stretch>
        </p:blipFill>
        <p:spPr>
          <a:xfrm>
            <a:off x="8396021" y="3366821"/>
            <a:ext cx="261518" cy="261518"/>
          </a:xfrm>
          <a:prstGeom prst="rect">
            <a:avLst/>
          </a:prstGeom>
        </p:spPr>
      </p:pic>
      <p:sp>
        <p:nvSpPr>
          <p:cNvPr id="12" name="Text 7"/>
          <p:cNvSpPr txBox="1"/>
          <p:nvPr/>
        </p:nvSpPr>
        <p:spPr>
          <a:xfrm>
            <a:off x="8961120" y="321868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50%</a:t>
            </a:r>
            <a:endParaRPr lang="en-US" sz="1800" dirty="0"/>
          </a:p>
        </p:txBody>
      </p:sp>
      <p:sp>
        <p:nvSpPr>
          <p:cNvPr id="13" name="Text 8"/>
          <p:cNvSpPr txBox="1"/>
          <p:nvPr/>
        </p:nvSpPr>
        <p:spPr>
          <a:xfrm>
            <a:off x="8961120" y="3611880"/>
            <a:ext cx="2514600" cy="731520"/>
          </a:xfrm>
          <a:prstGeom prst="rect">
            <a:avLst/>
          </a:prstGeom>
          <a:noFill/>
          <a:ln/>
        </p:spPr>
        <p:txBody>
          <a:bodyPr wrap="square" lIns="0" tIns="0" rIns="0" bIns="0" rtlCol="0" anchor="t"/>
          <a:lstStyle/>
          <a:p>
            <a:pPr indent="0" marL="0">
              <a:buNone/>
            </a:pPr>
            <a:r>
              <a:rPr lang="en-US" sz="1200" dirty="0">
                <a:solidFill>
                  <a:schemeClr val="tx1"/>
                </a:solidFill>
              </a:rPr>
              <a:t>of a pooled cell is PostgreSQL, the first line to right-size after load tests</a:t>
            </a:r>
            <a:endParaRPr lang="en-US" sz="1200" dirty="0"/>
          </a:p>
        </p:txBody>
      </p:sp>
      <p:sp>
        <p:nvSpPr>
          <p:cNvPr id="14" name="insight 3"/>
          <p:cNvSpPr/>
          <p:nvPr/>
        </p:nvSpPr>
        <p:spPr>
          <a:xfrm>
            <a:off x="8046720" y="4572000"/>
            <a:ext cx="3566160" cy="1371600"/>
          </a:xfrm>
          <a:prstGeom prst="roundRect">
            <a:avLst>
              <a:gd name="adj" fmla="val 5333"/>
            </a:avLst>
          </a:prstGeom>
          <a:solidFill>
            <a:schemeClr val="bg2"/>
          </a:solidFill>
          <a:ln/>
        </p:spPr>
      </p:sp>
      <p:sp>
        <p:nvSpPr>
          <p:cNvPr id="15" name="badge LuShieldCheck"/>
          <p:cNvSpPr/>
          <p:nvPr/>
        </p:nvSpPr>
        <p:spPr>
          <a:xfrm>
            <a:off x="8275320" y="4800600"/>
            <a:ext cx="502920" cy="502920"/>
          </a:xfrm>
          <a:prstGeom prst="ellipse">
            <a:avLst/>
          </a:prstGeom>
          <a:solidFill>
            <a:schemeClr val="bg1"/>
          </a:solidFill>
          <a:ln/>
        </p:spPr>
      </p:sp>
      <p:pic>
        <p:nvPicPr>
          <p:cNvPr id="16" name="icon LuShieldCheck" descr="preencoded.png">    </p:cNvPr>
          <p:cNvPicPr>
            <a:picLocks noChangeAspect="1"/>
          </p:cNvPicPr>
          <p:nvPr/>
        </p:nvPicPr>
        <p:blipFill>
          <a:blip r:embed="rId4"/>
          <a:stretch>
            <a:fillRect/>
          </a:stretch>
        </p:blipFill>
        <p:spPr>
          <a:xfrm>
            <a:off x="8396021" y="4921301"/>
            <a:ext cx="261518" cy="261518"/>
          </a:xfrm>
          <a:prstGeom prst="rect">
            <a:avLst/>
          </a:prstGeom>
        </p:spPr>
      </p:pic>
      <p:sp>
        <p:nvSpPr>
          <p:cNvPr id="17" name="Text 11"/>
          <p:cNvSpPr txBox="1"/>
          <p:nvPr/>
        </p:nvSpPr>
        <p:spPr>
          <a:xfrm>
            <a:off x="8961120" y="477316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Gov &gt; Enterprise S</a:t>
            </a:r>
            <a:endParaRPr lang="en-US" sz="1800" dirty="0"/>
          </a:p>
        </p:txBody>
      </p:sp>
      <p:sp>
        <p:nvSpPr>
          <p:cNvPr id="18" name="Text 12"/>
          <p:cNvSpPr txBox="1"/>
          <p:nvPr/>
        </p:nvSpPr>
        <p:spPr>
          <a:xfrm>
            <a:off x="8961120" y="5166360"/>
            <a:ext cx="2514600" cy="731520"/>
          </a:xfrm>
          <a:prstGeom prst="rect">
            <a:avLst/>
          </a:prstGeom>
          <a:noFill/>
          <a:ln/>
        </p:spPr>
        <p:txBody>
          <a:bodyPr wrap="square" lIns="0" tIns="0" rIns="0" bIns="0" rtlCol="0" anchor="t"/>
          <a:lstStyle/>
          <a:p>
            <a:pPr indent="0" marL="0">
              <a:buNone/>
            </a:pPr>
            <a:r>
              <a:rPr lang="en-US" sz="1200" dirty="0">
                <a:solidFill>
                  <a:schemeClr val="tx1"/>
                </a:solidFill>
              </a:rPr>
              <a:t>the three Gov options cost more than a whole Enterprise S cell</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Pooled tiers clear 70% margin, dedicated near 60%</a:t>
            </a:r>
            <a:endParaRPr lang="en-US" sz="3400" dirty="0"/>
          </a:p>
        </p:txBody>
      </p:sp>
      <p:graphicFrame>
        <p:nvGraphicFramePr>
          <p:cNvPr id="3" name="Chart 0" descr=""/>
          <p:cNvGraphicFramePr/>
          <p:nvPr/>
        </p:nvGraphicFramePr>
        <p:xfrm>
          <a:off x="54864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target 1"/>
          <p:cNvSpPr/>
          <p:nvPr/>
        </p:nvSpPr>
        <p:spPr>
          <a:xfrm>
            <a:off x="8046720" y="1463040"/>
            <a:ext cx="3566160" cy="1371600"/>
          </a:xfrm>
          <a:prstGeom prst="roundRect">
            <a:avLst>
              <a:gd name="adj" fmla="val 5333"/>
            </a:avLst>
          </a:prstGeom>
          <a:solidFill>
            <a:schemeClr val="bg2"/>
          </a:solidFill>
          <a:ln/>
        </p:spPr>
      </p:sp>
      <p:sp>
        <p:nvSpPr>
          <p:cNvPr id="5" name="Text 2"/>
          <p:cNvSpPr txBox="1"/>
          <p:nvPr/>
        </p:nvSpPr>
        <p:spPr>
          <a:xfrm>
            <a:off x="8321040" y="164592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Target ≥ 70%</a:t>
            </a:r>
            <a:endParaRPr lang="en-US" sz="1800" dirty="0"/>
          </a:p>
        </p:txBody>
      </p:sp>
      <p:sp>
        <p:nvSpPr>
          <p:cNvPr id="6" name="Text 3"/>
          <p:cNvSpPr txBox="1"/>
          <p:nvPr/>
        </p:nvSpPr>
        <p:spPr>
          <a:xfrm>
            <a:off x="8321040" y="2029968"/>
            <a:ext cx="3108960" cy="731520"/>
          </a:xfrm>
          <a:prstGeom prst="rect">
            <a:avLst/>
          </a:prstGeom>
          <a:noFill/>
          <a:ln/>
        </p:spPr>
        <p:txBody>
          <a:bodyPr wrap="square" lIns="0" tIns="0" rIns="0" bIns="0" rtlCol="0" anchor="t"/>
          <a:lstStyle/>
          <a:p>
            <a:pPr indent="0" marL="0">
              <a:buNone/>
            </a:pPr>
            <a:r>
              <a:rPr lang="en-US" sz="1200" dirty="0">
                <a:solidFill>
                  <a:schemeClr val="tx1"/>
                </a:solidFill>
              </a:rPr>
              <a:t>Starter and Business, on pooled cells. Met with room to spare.</a:t>
            </a:r>
            <a:endParaRPr lang="en-US" sz="1200" dirty="0"/>
          </a:p>
        </p:txBody>
      </p:sp>
      <p:sp>
        <p:nvSpPr>
          <p:cNvPr id="7" name="target 2"/>
          <p:cNvSpPr/>
          <p:nvPr/>
        </p:nvSpPr>
        <p:spPr>
          <a:xfrm>
            <a:off x="8046720" y="3017520"/>
            <a:ext cx="3566160" cy="1371600"/>
          </a:xfrm>
          <a:prstGeom prst="roundRect">
            <a:avLst>
              <a:gd name="adj" fmla="val 5333"/>
            </a:avLst>
          </a:prstGeom>
          <a:solidFill>
            <a:schemeClr val="bg2"/>
          </a:solidFill>
          <a:ln/>
        </p:spPr>
      </p:sp>
      <p:sp>
        <p:nvSpPr>
          <p:cNvPr id="8" name="Text 5"/>
          <p:cNvSpPr txBox="1"/>
          <p:nvPr/>
        </p:nvSpPr>
        <p:spPr>
          <a:xfrm>
            <a:off x="8321040" y="320040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Target ≥ 55%</a:t>
            </a:r>
            <a:endParaRPr lang="en-US" sz="1800" dirty="0"/>
          </a:p>
        </p:txBody>
      </p:sp>
      <p:sp>
        <p:nvSpPr>
          <p:cNvPr id="9" name="Text 6"/>
          <p:cNvSpPr txBox="1"/>
          <p:nvPr/>
        </p:nvSpPr>
        <p:spPr>
          <a:xfrm>
            <a:off x="8321040" y="3584448"/>
            <a:ext cx="3108960" cy="731520"/>
          </a:xfrm>
          <a:prstGeom prst="rect">
            <a:avLst/>
          </a:prstGeom>
          <a:noFill/>
          <a:ln/>
        </p:spPr>
        <p:txBody>
          <a:bodyPr wrap="square" lIns="0" tIns="0" rIns="0" bIns="0" rtlCol="0" anchor="t"/>
          <a:lstStyle/>
          <a:p>
            <a:pPr indent="0" marL="0">
              <a:buNone/>
            </a:pPr>
            <a:r>
              <a:rPr lang="en-US" sz="1200" dirty="0">
                <a:solidFill>
                  <a:schemeClr val="tx1"/>
                </a:solidFill>
              </a:rPr>
              <a:t>Enterprise dedicated cells carry single-tenant fixed cost, as with Phase Two and Cloud-IAM. Met.</a:t>
            </a:r>
            <a:endParaRPr lang="en-US" sz="1200" dirty="0"/>
          </a:p>
        </p:txBody>
      </p:sp>
      <p:sp>
        <p:nvSpPr>
          <p:cNvPr id="10" name="target 3"/>
          <p:cNvSpPr/>
          <p:nvPr/>
        </p:nvSpPr>
        <p:spPr>
          <a:xfrm>
            <a:off x="8046720" y="4572000"/>
            <a:ext cx="3566160" cy="1371600"/>
          </a:xfrm>
          <a:prstGeom prst="roundRect">
            <a:avLst>
              <a:gd name="adj" fmla="val 5333"/>
            </a:avLst>
          </a:prstGeom>
          <a:solidFill>
            <a:schemeClr val="bg2"/>
          </a:solidFill>
          <a:ln/>
        </p:spPr>
      </p:sp>
      <p:sp>
        <p:nvSpPr>
          <p:cNvPr id="11" name="Text 8"/>
          <p:cNvSpPr txBox="1"/>
          <p:nvPr/>
        </p:nvSpPr>
        <p:spPr>
          <a:xfrm>
            <a:off x="8321040" y="4754880"/>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Pass-through</a:t>
            </a:r>
            <a:endParaRPr lang="en-US" sz="1800" dirty="0"/>
          </a:p>
        </p:txBody>
      </p:sp>
      <p:sp>
        <p:nvSpPr>
          <p:cNvPr id="12" name="Text 9"/>
          <p:cNvSpPr txBox="1"/>
          <p:nvPr/>
        </p:nvSpPr>
        <p:spPr>
          <a:xfrm>
            <a:off x="8321040" y="5138928"/>
            <a:ext cx="3108960" cy="731520"/>
          </a:xfrm>
          <a:prstGeom prst="rect">
            <a:avLst/>
          </a:prstGeom>
          <a:noFill/>
          <a:ln/>
        </p:spPr>
        <p:txBody>
          <a:bodyPr wrap="square" lIns="0" tIns="0" rIns="0" bIns="0" rtlCol="0" anchor="t"/>
          <a:lstStyle/>
          <a:p>
            <a:pPr indent="0" marL="0">
              <a:buNone/>
            </a:pPr>
            <a:r>
              <a:rPr lang="en-US" sz="1200" dirty="0">
                <a:solidFill>
                  <a:schemeClr val="tx1"/>
                </a:solidFill>
              </a:rPr>
              <a:t>Gov security options run at about 25% on purpose: mostly Oracle cost. The Enterprise contract carries the margin.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Business funds launch; Enterprise funds the SOC</a:t>
            </a:r>
            <a:endParaRPr lang="en-US" sz="3400" dirty="0"/>
          </a:p>
        </p:txBody>
      </p:sp>
      <p:graphicFrame>
        <p:nvGraphicFramePr>
          <p:cNvPr id="3" name="Chart 0" descr=""/>
          <p:cNvGraphicFramePr/>
          <p:nvPr/>
        </p:nvGraphicFramePr>
        <p:xfrm>
          <a:off x="548640" y="137160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mix 1"/>
          <p:cNvSpPr/>
          <p:nvPr/>
        </p:nvSpPr>
        <p:spPr>
          <a:xfrm>
            <a:off x="6949440" y="1463040"/>
            <a:ext cx="4663440" cy="1371600"/>
          </a:xfrm>
          <a:prstGeom prst="roundRect">
            <a:avLst>
              <a:gd name="adj" fmla="val 5333"/>
            </a:avLst>
          </a:prstGeom>
          <a:solidFill>
            <a:schemeClr val="bg2"/>
          </a:solidFill>
          <a:ln/>
        </p:spPr>
      </p:sp>
      <p:sp>
        <p:nvSpPr>
          <p:cNvPr id="5" name="step 1"/>
          <p:cNvSpPr/>
          <p:nvPr/>
        </p:nvSpPr>
        <p:spPr>
          <a:xfrm>
            <a:off x="7178040" y="1737360"/>
            <a:ext cx="457200" cy="457200"/>
          </a:xfrm>
          <a:prstGeom prst="ellipse">
            <a:avLst/>
          </a:prstGeom>
          <a:solidFill>
            <a:schemeClr val="accent1"/>
          </a:solidFill>
          <a:ln/>
        </p:spPr>
      </p:sp>
      <p:sp>
        <p:nvSpPr>
          <p:cNvPr id="6" name="Text 3"/>
          <p:cNvSpPr txBox="1"/>
          <p:nvPr/>
        </p:nvSpPr>
        <p:spPr>
          <a:xfrm>
            <a:off x="717804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863840" y="1664208"/>
            <a:ext cx="3566160" cy="365760"/>
          </a:xfrm>
          <a:prstGeom prst="rect">
            <a:avLst/>
          </a:prstGeom>
          <a:noFill/>
          <a:ln/>
        </p:spPr>
        <p:txBody>
          <a:bodyPr wrap="square" lIns="0" tIns="0" rIns="0" bIns="0" rtlCol="0" anchor="t"/>
          <a:lstStyle/>
          <a:p>
            <a:pPr indent="0" marL="0">
              <a:buNone/>
            </a:pPr>
            <a:r>
              <a:rPr lang="en-US" sz="1600" b="1" dirty="0">
                <a:solidFill>
                  <a:schemeClr val="tx2"/>
                </a:solidFill>
              </a:rPr>
              <a:t>Launch: SAR 33k fixed</a:t>
            </a:r>
            <a:endParaRPr lang="en-US" sz="1600" dirty="0"/>
          </a:p>
        </p:txBody>
      </p:sp>
      <p:sp>
        <p:nvSpPr>
          <p:cNvPr id="8" name="Text 5"/>
          <p:cNvSpPr txBox="1"/>
          <p:nvPr/>
        </p:nvSpPr>
        <p:spPr>
          <a:xfrm>
            <a:off x="7863840" y="2057400"/>
            <a:ext cx="3566160" cy="685800"/>
          </a:xfrm>
          <a:prstGeom prst="rect">
            <a:avLst/>
          </a:prstGeom>
          <a:noFill/>
          <a:ln/>
        </p:spPr>
        <p:txBody>
          <a:bodyPr wrap="square" lIns="0" tIns="0" rIns="0" bIns="0" rtlCol="0" anchor="t"/>
          <a:lstStyle/>
          <a:p>
            <a:pPr indent="0" marL="0">
              <a:buNone/>
            </a:pPr>
            <a:r>
              <a:rPr lang="en-US" sz="1300" dirty="0">
                <a:solidFill>
                  <a:schemeClr val="tx1"/>
                </a:solidFill>
              </a:rPr>
              <a:t>10 Business M + 25 Starter 10k</a:t>
            </a:r>
            <a:endParaRPr lang="en-US" sz="1300" dirty="0"/>
          </a:p>
        </p:txBody>
      </p:sp>
      <p:sp>
        <p:nvSpPr>
          <p:cNvPr id="9" name="mix 2"/>
          <p:cNvSpPr/>
          <p:nvPr/>
        </p:nvSpPr>
        <p:spPr>
          <a:xfrm>
            <a:off x="6949440" y="3017520"/>
            <a:ext cx="4663440" cy="1371600"/>
          </a:xfrm>
          <a:prstGeom prst="roundRect">
            <a:avLst>
              <a:gd name="adj" fmla="val 5333"/>
            </a:avLst>
          </a:prstGeom>
          <a:solidFill>
            <a:schemeClr val="bg2"/>
          </a:solidFill>
          <a:ln/>
        </p:spPr>
      </p:sp>
      <p:sp>
        <p:nvSpPr>
          <p:cNvPr id="10" name="step 2"/>
          <p:cNvSpPr/>
          <p:nvPr/>
        </p:nvSpPr>
        <p:spPr>
          <a:xfrm>
            <a:off x="7178040" y="3291840"/>
            <a:ext cx="457200" cy="457200"/>
          </a:xfrm>
          <a:prstGeom prst="ellipse">
            <a:avLst/>
          </a:prstGeom>
          <a:solidFill>
            <a:schemeClr val="accent1"/>
          </a:solidFill>
          <a:ln/>
        </p:spPr>
      </p:sp>
      <p:sp>
        <p:nvSpPr>
          <p:cNvPr id="11" name="Text 8"/>
          <p:cNvSpPr txBox="1"/>
          <p:nvPr/>
        </p:nvSpPr>
        <p:spPr>
          <a:xfrm>
            <a:off x="7178040" y="3291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7863840" y="3218688"/>
            <a:ext cx="3566160" cy="365760"/>
          </a:xfrm>
          <a:prstGeom prst="rect">
            <a:avLst/>
          </a:prstGeom>
          <a:noFill/>
          <a:ln/>
        </p:spPr>
        <p:txBody>
          <a:bodyPr wrap="square" lIns="0" tIns="0" rIns="0" bIns="0" rtlCol="0" anchor="t"/>
          <a:lstStyle/>
          <a:p>
            <a:pPr indent="0" marL="0">
              <a:buNone/>
            </a:pPr>
            <a:r>
              <a:rPr lang="en-US" sz="1600" b="1" dirty="0">
                <a:solidFill>
                  <a:schemeClr val="tx2"/>
                </a:solidFill>
              </a:rPr>
              <a:t>+ SOC partner: SAR 58k</a:t>
            </a:r>
            <a:endParaRPr lang="en-US" sz="1600" dirty="0"/>
          </a:p>
        </p:txBody>
      </p:sp>
      <p:sp>
        <p:nvSpPr>
          <p:cNvPr id="13" name="Text 10"/>
          <p:cNvSpPr txBox="1"/>
          <p:nvPr/>
        </p:nvSpPr>
        <p:spPr>
          <a:xfrm>
            <a:off x="7863840" y="3611880"/>
            <a:ext cx="3566160" cy="685800"/>
          </a:xfrm>
          <a:prstGeom prst="rect">
            <a:avLst/>
          </a:prstGeom>
          <a:noFill/>
          <a:ln/>
        </p:spPr>
        <p:txBody>
          <a:bodyPr wrap="square" lIns="0" tIns="0" rIns="0" bIns="0" rtlCol="0" anchor="t"/>
          <a:lstStyle/>
          <a:p>
            <a:pPr indent="0" marL="0">
              <a:buNone/>
            </a:pPr>
            <a:r>
              <a:rPr lang="en-US" sz="1300" dirty="0">
                <a:solidFill>
                  <a:schemeClr val="tx1"/>
                </a:solidFill>
              </a:rPr>
              <a:t>Phase 1 mix + 4 Enterprise S</a:t>
            </a:r>
            <a:endParaRPr lang="en-US" sz="1300" dirty="0"/>
          </a:p>
        </p:txBody>
      </p:sp>
      <p:sp>
        <p:nvSpPr>
          <p:cNvPr id="14" name="mix 3"/>
          <p:cNvSpPr/>
          <p:nvPr/>
        </p:nvSpPr>
        <p:spPr>
          <a:xfrm>
            <a:off x="6949440" y="4572000"/>
            <a:ext cx="4663440" cy="1371600"/>
          </a:xfrm>
          <a:prstGeom prst="roundRect">
            <a:avLst>
              <a:gd name="adj" fmla="val 5333"/>
            </a:avLst>
          </a:prstGeom>
          <a:solidFill>
            <a:schemeClr val="bg2"/>
          </a:solidFill>
          <a:ln/>
        </p:spPr>
      </p:sp>
      <p:sp>
        <p:nvSpPr>
          <p:cNvPr id="15" name="step 3"/>
          <p:cNvSpPr/>
          <p:nvPr/>
        </p:nvSpPr>
        <p:spPr>
          <a:xfrm>
            <a:off x="7178040" y="4846320"/>
            <a:ext cx="457200" cy="457200"/>
          </a:xfrm>
          <a:prstGeom prst="ellipse">
            <a:avLst/>
          </a:prstGeom>
          <a:solidFill>
            <a:schemeClr val="accent1"/>
          </a:solidFill>
          <a:ln/>
        </p:spPr>
      </p:sp>
      <p:sp>
        <p:nvSpPr>
          <p:cNvPr id="16" name="Text 13"/>
          <p:cNvSpPr txBox="1"/>
          <p:nvPr/>
        </p:nvSpPr>
        <p:spPr>
          <a:xfrm>
            <a:off x="717804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7863840" y="4773168"/>
            <a:ext cx="3566160" cy="365760"/>
          </a:xfrm>
          <a:prstGeom prst="rect">
            <a:avLst/>
          </a:prstGeom>
          <a:noFill/>
          <a:ln/>
        </p:spPr>
        <p:txBody>
          <a:bodyPr wrap="square" lIns="0" tIns="0" rIns="0" bIns="0" rtlCol="0" anchor="t"/>
          <a:lstStyle/>
          <a:p>
            <a:pPr indent="0" marL="0">
              <a:buNone/>
            </a:pPr>
            <a:r>
              <a:rPr lang="en-US" sz="1600" b="1" dirty="0">
                <a:solidFill>
                  <a:schemeClr val="tx2"/>
                </a:solidFill>
              </a:rPr>
              <a:t>+ team of 3: SAR 148k</a:t>
            </a:r>
            <a:endParaRPr lang="en-US" sz="1600" dirty="0"/>
          </a:p>
        </p:txBody>
      </p:sp>
      <p:sp>
        <p:nvSpPr>
          <p:cNvPr id="18" name="Text 15"/>
          <p:cNvSpPr txBox="1"/>
          <p:nvPr/>
        </p:nvSpPr>
        <p:spPr>
          <a:xfrm>
            <a:off x="7863840" y="5166360"/>
            <a:ext cx="3566160" cy="685800"/>
          </a:xfrm>
          <a:prstGeom prst="rect">
            <a:avLst/>
          </a:prstGeom>
          <a:noFill/>
          <a:ln/>
        </p:spPr>
        <p:txBody>
          <a:bodyPr wrap="square" lIns="0" tIns="0" rIns="0" bIns="0" rtlCol="0" anchor="t"/>
          <a:lstStyle/>
          <a:p>
            <a:pPr indent="0" marL="0">
              <a:buNone/>
            </a:pPr>
            <a:r>
              <a:rPr lang="en-US" sz="1300" dirty="0">
                <a:solidFill>
                  <a:schemeClr val="tx1"/>
                </a:solidFill>
              </a:rPr>
              <a:t>Phase 2 mix + 2 Enterprise M + 20 Business M + 30 Starter 10k</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Six levers to lift margin</a:t>
            </a:r>
            <a:endParaRPr lang="en-US" sz="3400" dirty="0"/>
          </a:p>
        </p:txBody>
      </p:sp>
      <p:sp>
        <p:nvSpPr>
          <p:cNvPr id="3" name="lever 1"/>
          <p:cNvSpPr/>
          <p:nvPr/>
        </p:nvSpPr>
        <p:spPr>
          <a:xfrm>
            <a:off x="548640" y="1463040"/>
            <a:ext cx="3520440" cy="2148840"/>
          </a:xfrm>
          <a:prstGeom prst="roundRect">
            <a:avLst>
              <a:gd name="adj" fmla="val 3404"/>
            </a:avLst>
          </a:prstGeom>
          <a:solidFill>
            <a:schemeClr val="bg2"/>
          </a:solidFill>
          <a:ln/>
        </p:spPr>
      </p:sp>
      <p:sp>
        <p:nvSpPr>
          <p:cNvPr id="4" name="badge LuHandshake"/>
          <p:cNvSpPr/>
          <p:nvPr/>
        </p:nvSpPr>
        <p:spPr>
          <a:xfrm>
            <a:off x="822960" y="1737360"/>
            <a:ext cx="548640" cy="548640"/>
          </a:xfrm>
          <a:prstGeom prst="ellipse">
            <a:avLst/>
          </a:prstGeom>
          <a:solidFill>
            <a:schemeClr val="bg1"/>
          </a:solidFill>
          <a:ln/>
        </p:spPr>
      </p:sp>
      <p:pic>
        <p:nvPicPr>
          <p:cNvPr id="5" name="icon LuHandshake" descr="preencoded.png">    </p:cNvPr>
          <p:cNvPicPr>
            <a:picLocks noChangeAspect="1"/>
          </p:cNvPicPr>
          <p:nvPr/>
        </p:nvPicPr>
        <p:blipFill>
          <a:blip r:embed="rId1"/>
          <a:stretch>
            <a:fillRect/>
          </a:stretch>
        </p:blipFill>
        <p:spPr>
          <a:xfrm>
            <a:off x="954634" y="1869034"/>
            <a:ext cx="285293" cy="285293"/>
          </a:xfrm>
          <a:prstGeom prst="rect">
            <a:avLst/>
          </a:prstGeom>
        </p:spPr>
      </p:pic>
      <p:sp>
        <p:nvSpPr>
          <p:cNvPr id="6" name="Text 3"/>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700" b="1" dirty="0">
                <a:solidFill>
                  <a:schemeClr val="tx2"/>
                </a:solidFill>
              </a:rPr>
              <a:t>Oracle annual commit</a:t>
            </a:r>
            <a:endParaRPr lang="en-US" sz="1700" dirty="0"/>
          </a:p>
        </p:txBody>
      </p:sp>
      <p:sp>
        <p:nvSpPr>
          <p:cNvPr id="7" name="Text 4"/>
          <p:cNvSpPr txBox="1"/>
          <p:nvPr/>
        </p:nvSpPr>
        <p:spPr>
          <a:xfrm>
            <a:off x="822960" y="2834640"/>
            <a:ext cx="3017520" cy="685800"/>
          </a:xfrm>
          <a:prstGeom prst="rect">
            <a:avLst/>
          </a:prstGeom>
          <a:noFill/>
          <a:ln/>
        </p:spPr>
        <p:txBody>
          <a:bodyPr wrap="square" lIns="0" tIns="0" rIns="0" bIns="0" rtlCol="0" anchor="t"/>
          <a:lstStyle/>
          <a:p>
            <a:pPr indent="0" marL="0">
              <a:buNone/>
            </a:pPr>
            <a:r>
              <a:rPr lang="en-US" sz="1300" dirty="0">
                <a:solidFill>
                  <a:schemeClr val="tx1"/>
                </a:solidFill>
              </a:rPr>
              <a:t>Universal Credits discount on every line, once monthly spend is predictable</a:t>
            </a:r>
            <a:endParaRPr lang="en-US" sz="1300" dirty="0"/>
          </a:p>
        </p:txBody>
      </p:sp>
      <p:sp>
        <p:nvSpPr>
          <p:cNvPr id="8" name="lever 2"/>
          <p:cNvSpPr/>
          <p:nvPr/>
        </p:nvSpPr>
        <p:spPr>
          <a:xfrm>
            <a:off x="4297680" y="1463040"/>
            <a:ext cx="3520440" cy="2148840"/>
          </a:xfrm>
          <a:prstGeom prst="roundRect">
            <a:avLst>
              <a:gd name="adj" fmla="val 3404"/>
            </a:avLst>
          </a:prstGeom>
          <a:solidFill>
            <a:schemeClr val="bg2"/>
          </a:solidFill>
          <a:ln/>
        </p:spPr>
      </p:sp>
      <p:sp>
        <p:nvSpPr>
          <p:cNvPr id="9" name="badge LuCpu"/>
          <p:cNvSpPr/>
          <p:nvPr/>
        </p:nvSpPr>
        <p:spPr>
          <a:xfrm>
            <a:off x="4572000" y="1737360"/>
            <a:ext cx="548640" cy="548640"/>
          </a:xfrm>
          <a:prstGeom prst="ellipse">
            <a:avLst/>
          </a:prstGeom>
          <a:solidFill>
            <a:schemeClr val="bg1"/>
          </a:solidFill>
          <a:ln/>
        </p:spPr>
      </p:sp>
      <p:pic>
        <p:nvPicPr>
          <p:cNvPr id="10" name="icon LuCpu" descr="preencoded.png">    </p:cNvPr>
          <p:cNvPicPr>
            <a:picLocks noChangeAspect="1"/>
          </p:cNvPicPr>
          <p:nvPr/>
        </p:nvPicPr>
        <p:blipFill>
          <a:blip r:embed="rId2"/>
          <a:stretch>
            <a:fillRect/>
          </a:stretch>
        </p:blipFill>
        <p:spPr>
          <a:xfrm>
            <a:off x="4703674" y="1869034"/>
            <a:ext cx="285293" cy="285293"/>
          </a:xfrm>
          <a:prstGeom prst="rect">
            <a:avLst/>
          </a:prstGeom>
        </p:spPr>
      </p:pic>
      <p:sp>
        <p:nvSpPr>
          <p:cNvPr id="11" name="Text 7"/>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700" b="1" dirty="0">
                <a:solidFill>
                  <a:schemeClr val="tx2"/>
                </a:solidFill>
              </a:rPr>
              <a:t>Ampere A1 for Keycloak</a:t>
            </a:r>
            <a:endParaRPr lang="en-US" sz="1700" dirty="0"/>
          </a:p>
        </p:txBody>
      </p:sp>
      <p:sp>
        <p:nvSpPr>
          <p:cNvPr id="12" name="Text 8"/>
          <p:cNvSpPr txBox="1"/>
          <p:nvPr/>
        </p:nvSpPr>
        <p:spPr>
          <a:xfrm>
            <a:off x="4572000" y="2834640"/>
            <a:ext cx="3017520" cy="685800"/>
          </a:xfrm>
          <a:prstGeom prst="rect">
            <a:avLst/>
          </a:prstGeom>
          <a:noFill/>
          <a:ln/>
        </p:spPr>
        <p:txBody>
          <a:bodyPr wrap="square" lIns="0" tIns="0" rIns="0" bIns="0" rtlCol="0" anchor="t"/>
          <a:lstStyle/>
          <a:p>
            <a:pPr indent="0" marL="0">
              <a:buNone/>
            </a:pPr>
            <a:r>
              <a:rPr lang="en-US" sz="1300" dirty="0">
                <a:solidFill>
                  <a:schemeClr val="tx1"/>
                </a:solidFill>
              </a:rPr>
              <a:t>About 30% cheaper per vCPU than E5; validate login throughput in load tests</a:t>
            </a:r>
            <a:endParaRPr lang="en-US" sz="1300" dirty="0"/>
          </a:p>
        </p:txBody>
      </p:sp>
      <p:sp>
        <p:nvSpPr>
          <p:cNvPr id="13" name="lever 3"/>
          <p:cNvSpPr/>
          <p:nvPr/>
        </p:nvSpPr>
        <p:spPr>
          <a:xfrm>
            <a:off x="8046720" y="1463040"/>
            <a:ext cx="3520440" cy="2148840"/>
          </a:xfrm>
          <a:prstGeom prst="roundRect">
            <a:avLst>
              <a:gd name="adj" fmla="val 3404"/>
            </a:avLst>
          </a:prstGeom>
          <a:solidFill>
            <a:schemeClr val="bg2"/>
          </a:solidFill>
          <a:ln/>
        </p:spPr>
      </p:sp>
      <p:sp>
        <p:nvSpPr>
          <p:cNvPr id="14" name="badge LuDatabase"/>
          <p:cNvSpPr/>
          <p:nvPr/>
        </p:nvSpPr>
        <p:spPr>
          <a:xfrm>
            <a:off x="8321040" y="1737360"/>
            <a:ext cx="548640" cy="548640"/>
          </a:xfrm>
          <a:prstGeom prst="ellipse">
            <a:avLst/>
          </a:prstGeom>
          <a:solidFill>
            <a:schemeClr val="bg1"/>
          </a:solidFill>
          <a:ln/>
        </p:spPr>
      </p:sp>
      <p:pic>
        <p:nvPicPr>
          <p:cNvPr id="15" name="icon LuDatabase" descr="preencoded.png">    </p:cNvPr>
          <p:cNvPicPr>
            <a:picLocks noChangeAspect="1"/>
          </p:cNvPicPr>
          <p:nvPr/>
        </p:nvPicPr>
        <p:blipFill>
          <a:blip r:embed="rId3"/>
          <a:stretch>
            <a:fillRect/>
          </a:stretch>
        </p:blipFill>
        <p:spPr>
          <a:xfrm>
            <a:off x="8452714" y="1869034"/>
            <a:ext cx="285293" cy="285293"/>
          </a:xfrm>
          <a:prstGeom prst="rect">
            <a:avLst/>
          </a:prstGeom>
        </p:spPr>
      </p:pic>
      <p:sp>
        <p:nvSpPr>
          <p:cNvPr id="16" name="Text 11"/>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700" b="1" dirty="0">
                <a:solidFill>
                  <a:schemeClr val="tx2"/>
                </a:solidFill>
              </a:rPr>
              <a:t>Right-size PostgreSQL</a:t>
            </a:r>
            <a:endParaRPr lang="en-US" sz="1700" dirty="0"/>
          </a:p>
        </p:txBody>
      </p:sp>
      <p:sp>
        <p:nvSpPr>
          <p:cNvPr id="17" name="Text 12"/>
          <p:cNvSpPr txBox="1"/>
          <p:nvPr/>
        </p:nvSpPr>
        <p:spPr>
          <a:xfrm>
            <a:off x="8321040" y="2834640"/>
            <a:ext cx="3017520" cy="685800"/>
          </a:xfrm>
          <a:prstGeom prst="rect">
            <a:avLst/>
          </a:prstGeom>
          <a:noFill/>
          <a:ln/>
        </p:spPr>
        <p:txBody>
          <a:bodyPr wrap="square" lIns="0" tIns="0" rIns="0" bIns="0" rtlCol="0" anchor="t"/>
          <a:lstStyle/>
          <a:p>
            <a:pPr indent="0" marL="0">
              <a:buNone/>
            </a:pPr>
            <a:r>
              <a:rPr lang="en-US" sz="1300" dirty="0">
                <a:solidFill>
                  <a:schemeClr val="tx1"/>
                </a:solidFill>
              </a:rPr>
              <a:t>50% of a pooled cell today; 2 OCPU handles about 300 logins per second</a:t>
            </a:r>
            <a:endParaRPr lang="en-US" sz="1300" dirty="0"/>
          </a:p>
        </p:txBody>
      </p:sp>
      <p:sp>
        <p:nvSpPr>
          <p:cNvPr id="18" name="lever 4"/>
          <p:cNvSpPr/>
          <p:nvPr/>
        </p:nvSpPr>
        <p:spPr>
          <a:xfrm>
            <a:off x="548640" y="3840480"/>
            <a:ext cx="3520440" cy="2148840"/>
          </a:xfrm>
          <a:prstGeom prst="roundRect">
            <a:avLst>
              <a:gd name="adj" fmla="val 3404"/>
            </a:avLst>
          </a:prstGeom>
          <a:solidFill>
            <a:schemeClr val="bg2"/>
          </a:solidFill>
          <a:ln/>
        </p:spPr>
      </p:sp>
      <p:sp>
        <p:nvSpPr>
          <p:cNvPr id="19" name="badge LuArchive"/>
          <p:cNvSpPr/>
          <p:nvPr/>
        </p:nvSpPr>
        <p:spPr>
          <a:xfrm>
            <a:off x="822960" y="4114800"/>
            <a:ext cx="548640" cy="548640"/>
          </a:xfrm>
          <a:prstGeom prst="ellipse">
            <a:avLst/>
          </a:prstGeom>
          <a:solidFill>
            <a:schemeClr val="bg1"/>
          </a:solidFill>
          <a:ln/>
        </p:spPr>
      </p:sp>
      <p:pic>
        <p:nvPicPr>
          <p:cNvPr id="20" name="icon LuArchive" descr="preencoded.png">    </p:cNvPr>
          <p:cNvPicPr>
            <a:picLocks noChangeAspect="1"/>
          </p:cNvPicPr>
          <p:nvPr/>
        </p:nvPicPr>
        <p:blipFill>
          <a:blip r:embed="rId4"/>
          <a:stretch>
            <a:fillRect/>
          </a:stretch>
        </p:blipFill>
        <p:spPr>
          <a:xfrm>
            <a:off x="954634" y="4246474"/>
            <a:ext cx="285293" cy="285293"/>
          </a:xfrm>
          <a:prstGeom prst="rect">
            <a:avLst/>
          </a:prstGeom>
        </p:spPr>
      </p:pic>
      <p:sp>
        <p:nvSpPr>
          <p:cNvPr id="21" name="Text 15"/>
          <p:cNvSpPr txBox="1"/>
          <p:nvPr/>
        </p:nvSpPr>
        <p:spPr>
          <a:xfrm>
            <a:off x="822960" y="48006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Archive logs after 90 days</a:t>
            </a:r>
            <a:endParaRPr lang="en-US" sz="1700" dirty="0"/>
          </a:p>
        </p:txBody>
      </p:sp>
      <p:sp>
        <p:nvSpPr>
          <p:cNvPr id="22" name="Text 16"/>
          <p:cNvSpPr txBox="1"/>
          <p:nvPr/>
        </p:nvSpPr>
        <p:spPr>
          <a:xfrm>
            <a:off x="822960" y="5212080"/>
            <a:ext cx="3017520" cy="685800"/>
          </a:xfrm>
          <a:prstGeom prst="rect">
            <a:avLst/>
          </a:prstGeom>
          <a:noFill/>
          <a:ln/>
        </p:spPr>
        <p:txBody>
          <a:bodyPr wrap="square" lIns="0" tIns="0" rIns="0" bIns="0" rtlCol="0" anchor="t"/>
          <a:lstStyle/>
          <a:p>
            <a:pPr indent="0" marL="0">
              <a:buNone/>
            </a:pPr>
            <a:r>
              <a:rPr lang="en-US" sz="1300" dirty="0">
                <a:solidFill>
                  <a:schemeClr val="tx1"/>
                </a:solidFill>
              </a:rPr>
              <a:t>Logging Analytics archive costs USD 14.6 per unit, against 372 active</a:t>
            </a:r>
            <a:endParaRPr lang="en-US" sz="1300" dirty="0"/>
          </a:p>
        </p:txBody>
      </p:sp>
      <p:sp>
        <p:nvSpPr>
          <p:cNvPr id="23" name="lever 5"/>
          <p:cNvSpPr/>
          <p:nvPr/>
        </p:nvSpPr>
        <p:spPr>
          <a:xfrm>
            <a:off x="4297680" y="3840480"/>
            <a:ext cx="3520440" cy="2148840"/>
          </a:xfrm>
          <a:prstGeom prst="roundRect">
            <a:avLst>
              <a:gd name="adj" fmla="val 3404"/>
            </a:avLst>
          </a:prstGeom>
          <a:solidFill>
            <a:schemeClr val="bg2"/>
          </a:solidFill>
          <a:ln/>
        </p:spPr>
      </p:sp>
      <p:sp>
        <p:nvSpPr>
          <p:cNvPr id="24" name="badge LuNetwork"/>
          <p:cNvSpPr/>
          <p:nvPr/>
        </p:nvSpPr>
        <p:spPr>
          <a:xfrm>
            <a:off x="4572000" y="4114800"/>
            <a:ext cx="548640" cy="548640"/>
          </a:xfrm>
          <a:prstGeom prst="ellipse">
            <a:avLst/>
          </a:prstGeom>
          <a:solidFill>
            <a:schemeClr val="bg1"/>
          </a:solidFill>
          <a:ln/>
        </p:spPr>
      </p:sp>
      <p:pic>
        <p:nvPicPr>
          <p:cNvPr id="25" name="icon LuNetwork" descr="preencoded.png">    </p:cNvPr>
          <p:cNvPicPr>
            <a:picLocks noChangeAspect="1"/>
          </p:cNvPicPr>
          <p:nvPr/>
        </p:nvPicPr>
        <p:blipFill>
          <a:blip r:embed="rId5"/>
          <a:stretch>
            <a:fillRect/>
          </a:stretch>
        </p:blipFill>
        <p:spPr>
          <a:xfrm>
            <a:off x="4703674" y="4246474"/>
            <a:ext cx="285293" cy="285293"/>
          </a:xfrm>
          <a:prstGeom prst="rect">
            <a:avLst/>
          </a:prstGeom>
        </p:spPr>
      </p:pic>
      <p:sp>
        <p:nvSpPr>
          <p:cNvPr id="26" name="Text 19"/>
          <p:cNvSpPr txBox="1"/>
          <p:nvPr/>
        </p:nvSpPr>
        <p:spPr>
          <a:xfrm>
            <a:off x="4572000" y="48006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Shared hub firewall</a:t>
            </a:r>
            <a:endParaRPr lang="en-US" sz="1700" dirty="0"/>
          </a:p>
        </p:txBody>
      </p:sp>
      <p:sp>
        <p:nvSpPr>
          <p:cNvPr id="27" name="Text 20"/>
          <p:cNvSpPr txBox="1"/>
          <p:nvPr/>
        </p:nvSpPr>
        <p:spPr>
          <a:xfrm>
            <a:off x="4572000" y="5212080"/>
            <a:ext cx="3017520" cy="685800"/>
          </a:xfrm>
          <a:prstGeom prst="rect">
            <a:avLst/>
          </a:prstGeom>
          <a:noFill/>
          <a:ln/>
        </p:spPr>
        <p:txBody>
          <a:bodyPr wrap="square" lIns="0" tIns="0" rIns="0" bIns="0" rtlCol="0" anchor="t"/>
          <a:lstStyle/>
          <a:p>
            <a:pPr indent="0" marL="0">
              <a:buNone/>
            </a:pPr>
            <a:r>
              <a:rPr lang="en-US" sz="1300" dirty="0">
                <a:solidFill>
                  <a:schemeClr val="tx1"/>
                </a:solidFill>
              </a:rPr>
              <a:t>One USD 2,008 firewall across all Gov cells instead of one each</a:t>
            </a:r>
            <a:endParaRPr lang="en-US" sz="1300" dirty="0"/>
          </a:p>
        </p:txBody>
      </p:sp>
      <p:sp>
        <p:nvSpPr>
          <p:cNvPr id="28" name="lever 6"/>
          <p:cNvSpPr/>
          <p:nvPr/>
        </p:nvSpPr>
        <p:spPr>
          <a:xfrm>
            <a:off x="8046720" y="3840480"/>
            <a:ext cx="3520440" cy="2148840"/>
          </a:xfrm>
          <a:prstGeom prst="roundRect">
            <a:avLst>
              <a:gd name="adj" fmla="val 3404"/>
            </a:avLst>
          </a:prstGeom>
          <a:solidFill>
            <a:schemeClr val="bg2"/>
          </a:solidFill>
          <a:ln/>
        </p:spPr>
      </p:sp>
      <p:sp>
        <p:nvSpPr>
          <p:cNvPr id="29" name="badge LuKeyRound"/>
          <p:cNvSpPr/>
          <p:nvPr/>
        </p:nvSpPr>
        <p:spPr>
          <a:xfrm>
            <a:off x="8321040" y="4114800"/>
            <a:ext cx="548640" cy="548640"/>
          </a:xfrm>
          <a:prstGeom prst="ellipse">
            <a:avLst/>
          </a:prstGeom>
          <a:solidFill>
            <a:schemeClr val="bg1"/>
          </a:solidFill>
          <a:ln/>
        </p:spPr>
      </p:sp>
      <p:pic>
        <p:nvPicPr>
          <p:cNvPr id="30" name="icon LuKeyRound" descr="preencoded.png">    </p:cNvPr>
          <p:cNvPicPr>
            <a:picLocks noChangeAspect="1"/>
          </p:cNvPicPr>
          <p:nvPr/>
        </p:nvPicPr>
        <p:blipFill>
          <a:blip r:embed="rId6"/>
          <a:stretch>
            <a:fillRect/>
          </a:stretch>
        </p:blipFill>
        <p:spPr>
          <a:xfrm>
            <a:off x="8452714" y="4246474"/>
            <a:ext cx="285293" cy="285293"/>
          </a:xfrm>
          <a:prstGeom prst="rect">
            <a:avLst/>
          </a:prstGeom>
        </p:spPr>
      </p:pic>
      <p:sp>
        <p:nvSpPr>
          <p:cNvPr id="31" name="Text 23"/>
          <p:cNvSpPr txBox="1"/>
          <p:nvPr/>
        </p:nvSpPr>
        <p:spPr>
          <a:xfrm>
            <a:off x="8321040" y="48006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BYOK before private vault</a:t>
            </a:r>
            <a:endParaRPr lang="en-US" sz="1700" dirty="0"/>
          </a:p>
        </p:txBody>
      </p:sp>
      <p:sp>
        <p:nvSpPr>
          <p:cNvPr id="32" name="Text 24"/>
          <p:cNvSpPr txBox="1"/>
          <p:nvPr/>
        </p:nvSpPr>
        <p:spPr>
          <a:xfrm>
            <a:off x="8321040" y="5212080"/>
            <a:ext cx="3017520" cy="685800"/>
          </a:xfrm>
          <a:prstGeom prst="rect">
            <a:avLst/>
          </a:prstGeom>
          <a:noFill/>
          <a:ln/>
        </p:spPr>
        <p:txBody>
          <a:bodyPr wrap="square" lIns="0" tIns="0" rIns="0" bIns="0" rtlCol="0" anchor="t"/>
          <a:lstStyle/>
          <a:p>
            <a:pPr indent="0" marL="0">
              <a:buNone/>
            </a:pPr>
            <a:r>
              <a:rPr lang="en-US" sz="1300" dirty="0">
                <a:solidFill>
                  <a:schemeClr val="tx1"/>
                </a:solidFill>
              </a:rPr>
              <a:t>USD 3 per key version against USD 2,719 a month for a private vault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Competitors charge a premium for AI, outside KSA</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3017520"/>
                <a:gridCol w="2834640"/>
                <a:gridCol w="3200400"/>
              </a:tblGrid>
              <a:tr h="438912">
                <a:tc>
                  <a:txBody>
                    <a:bodyPr/>
                    <a:lstStyle/>
                    <a:p>
                      <a:pPr algn="l" indent="0" marL="0">
                        <a:buNone/>
                      </a:pPr>
                      <a:r>
                        <a:rPr lang="en-US" sz="1300" b="1" dirty="0">
                          <a:solidFill>
                            <a:schemeClr val="bg1"/>
                          </a:solidFill>
                        </a:rPr>
                        <a:t>Vendor</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Login risk / fraud AI</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AI agents</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AI price</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algn="l" indent="0" marL="0">
                        <a:buNone/>
                      </a:pPr>
                      <a:r>
                        <a:rPr lang="en-US" sz="1300" b="1" dirty="0">
                          <a:solidFill>
                            <a:schemeClr val="tx1"/>
                          </a:solidFill>
                        </a:rPr>
                        <a:t>Auth0</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Bot Detection, Adaptive MFA</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AI Agents add-on, Token Vault</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Risk: Enterprise only · Agents: +50% of plan</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Okta</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Identity Threat Protection</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Agent SSO, Okta for AI Agents</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ITP add-on · Agent SSO included</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Microsoft Entra</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ID Protection (P2)</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Entra Agent ID</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P2 USD 10/user · Copilot USD 4/SCU-hour</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Ping Identity</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PingOne Protect (ML)</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Identity for AI</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Not public; plans from USD 35k/year</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AWS Cognito</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Plus threat protection</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USD 0.02/MAU (SAR 750 at 10k MAU)</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WSO2</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Sift risk score</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Agent ID, LoginFlow AI</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Fraud: Enterprise add-on, not public</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Managed Keycloak</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None</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Admin MCP server only</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Oracle OCI IAM</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Rules-based risk, in-Kingdom</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Included</a:t>
                      </a:r>
                      <a:endParaRPr lang="en-US" sz="13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4" name="badge LuGlobe"/>
          <p:cNvSpPr/>
          <p:nvPr/>
        </p:nvSpPr>
        <p:spPr>
          <a:xfrm>
            <a:off x="548640" y="5486400"/>
            <a:ext cx="457200" cy="457200"/>
          </a:xfrm>
          <a:prstGeom prst="ellipse">
            <a:avLst/>
          </a:prstGeom>
          <a:solidFill>
            <a:schemeClr val="bg2"/>
          </a:solidFill>
          <a:ln/>
        </p:spPr>
      </p:sp>
      <p:pic>
        <p:nvPicPr>
          <p:cNvPr id="5" name="icon LuGlobe" descr="preencoded.png">    </p:cNvPr>
          <p:cNvPicPr>
            <a:picLocks noChangeAspect="1"/>
          </p:cNvPicPr>
          <p:nvPr/>
        </p:nvPicPr>
        <p:blipFill>
          <a:blip r:embed="rId1"/>
          <a:stretch>
            <a:fillRect/>
          </a:stretch>
        </p:blipFill>
        <p:spPr>
          <a:xfrm>
            <a:off x="658368" y="5596128"/>
            <a:ext cx="237744" cy="237744"/>
          </a:xfrm>
          <a:prstGeom prst="rect">
            <a:avLst/>
          </a:prstGeom>
        </p:spPr>
      </p:pic>
      <p:sp>
        <p:nvSpPr>
          <p:cNvPr id="6" name="Text 2"/>
          <p:cNvSpPr txBox="1"/>
          <p:nvPr/>
        </p:nvSpPr>
        <p:spPr>
          <a:xfrm>
            <a:off x="1143000" y="5550408"/>
            <a:ext cx="10424160" cy="457200"/>
          </a:xfrm>
          <a:prstGeom prst="rect">
            <a:avLst/>
          </a:prstGeom>
          <a:noFill/>
          <a:ln/>
        </p:spPr>
        <p:txBody>
          <a:bodyPr wrap="square" lIns="0" tIns="0" rIns="0" bIns="0" rtlCol="0" anchor="t"/>
          <a:lstStyle/>
          <a:p>
            <a:pPr indent="0" marL="0">
              <a:buNone/>
            </a:pPr>
            <a:r>
              <a:rPr lang="en-US" sz="1300" dirty="0">
                <a:solidFill>
                  <a:schemeClr val="accent5"/>
                </a:solidFill>
              </a:rPr>
              <a:t>None of the global vendors documents AI features hosted in KSA. Managed-Keycloak rivals have no risk scoring at all.</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Three AI add-ons, all running in the Kingdom</a:t>
            </a:r>
            <a:endParaRPr lang="en-US" sz="3400" dirty="0"/>
          </a:p>
        </p:txBody>
      </p:sp>
      <p:sp>
        <p:nvSpPr>
          <p:cNvPr id="3" name="ai offer Zimam Protect"/>
          <p:cNvSpPr/>
          <p:nvPr/>
        </p:nvSpPr>
        <p:spPr>
          <a:xfrm>
            <a:off x="548640" y="1463040"/>
            <a:ext cx="3520440" cy="4572000"/>
          </a:xfrm>
          <a:prstGeom prst="roundRect">
            <a:avLst>
              <a:gd name="adj" fmla="val 2078"/>
            </a:avLst>
          </a:prstGeom>
          <a:solidFill>
            <a:schemeClr val="bg2"/>
          </a:solidFill>
          <a:ln/>
        </p:spPr>
      </p:sp>
      <p:sp>
        <p:nvSpPr>
          <p:cNvPr id="4" name="badge LuShieldCheck"/>
          <p:cNvSpPr/>
          <p:nvPr/>
        </p:nvSpPr>
        <p:spPr>
          <a:xfrm>
            <a:off x="868680" y="1737360"/>
            <a:ext cx="640080" cy="640080"/>
          </a:xfrm>
          <a:prstGeom prst="ellipse">
            <a:avLst/>
          </a:prstGeom>
          <a:solidFill>
            <a:schemeClr val="accent1"/>
          </a:solidFill>
          <a:ln/>
        </p:spPr>
      </p:sp>
      <p:pic>
        <p:nvPicPr>
          <p:cNvPr id="5" name="icon LuShieldCheck" descr="preencoded.png">    </p:cNvPr>
          <p:cNvPicPr>
            <a:picLocks noChangeAspect="1"/>
          </p:cNvPicPr>
          <p:nvPr/>
        </p:nvPicPr>
        <p:blipFill>
          <a:blip r:embed="rId1"/>
          <a:stretch>
            <a:fillRect/>
          </a:stretch>
        </p:blipFill>
        <p:spPr>
          <a:xfrm>
            <a:off x="1022299" y="1890979"/>
            <a:ext cx="332842" cy="332842"/>
          </a:xfrm>
          <a:prstGeom prst="rect">
            <a:avLst/>
          </a:prstGeom>
        </p:spPr>
      </p:pic>
      <p:sp>
        <p:nvSpPr>
          <p:cNvPr id="6" name="Text 3"/>
          <p:cNvSpPr txBox="1"/>
          <p:nvPr/>
        </p:nvSpPr>
        <p:spPr>
          <a:xfrm>
            <a:off x="86868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Zimam Protect</a:t>
            </a:r>
            <a:endParaRPr lang="en-US" sz="2400" dirty="0"/>
          </a:p>
        </p:txBody>
      </p:sp>
      <p:sp>
        <p:nvSpPr>
          <p:cNvPr id="7" name="Text 4"/>
          <p:cNvSpPr txBox="1"/>
          <p:nvPr/>
        </p:nvSpPr>
        <p:spPr>
          <a:xfrm>
            <a:off x="868680" y="3017520"/>
            <a:ext cx="2926080" cy="320040"/>
          </a:xfrm>
          <a:prstGeom prst="rect">
            <a:avLst/>
          </a:prstGeom>
          <a:noFill/>
          <a:ln/>
        </p:spPr>
        <p:txBody>
          <a:bodyPr wrap="square" lIns="0" tIns="0" rIns="0" bIns="0" rtlCol="0" anchor="t"/>
          <a:lstStyle/>
          <a:p>
            <a:pPr indent="0" marL="0">
              <a:buNone/>
            </a:pPr>
            <a:r>
              <a:rPr lang="en-US" sz="1400" dirty="0">
                <a:solidFill>
                  <a:schemeClr val="accent5"/>
                </a:solidFill>
              </a:rPr>
              <a:t>Risk-based login</a:t>
            </a:r>
            <a:endParaRPr lang="en-US" sz="1400" dirty="0"/>
          </a:p>
        </p:txBody>
      </p:sp>
      <p:sp>
        <p:nvSpPr>
          <p:cNvPr id="8" name="Text 5"/>
          <p:cNvSpPr txBox="1"/>
          <p:nvPr/>
        </p:nvSpPr>
        <p:spPr>
          <a:xfrm>
            <a:off x="868680" y="338328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SAR 500–2,000</a:t>
            </a:r>
            <a:endParaRPr lang="en-US" sz="2000" dirty="0"/>
          </a:p>
        </p:txBody>
      </p:sp>
      <p:sp>
        <p:nvSpPr>
          <p:cNvPr id="9" name="Text 6"/>
          <p:cNvSpPr txBox="1"/>
          <p:nvPr/>
        </p:nvSpPr>
        <p:spPr>
          <a:xfrm>
            <a:off x="868680" y="3840480"/>
            <a:ext cx="2926080" cy="640080"/>
          </a:xfrm>
          <a:prstGeom prst="rect">
            <a:avLst/>
          </a:prstGeom>
          <a:noFill/>
          <a:ln/>
        </p:spPr>
        <p:txBody>
          <a:bodyPr wrap="square" lIns="0" tIns="0" rIns="0" bIns="0" rtlCol="0" anchor="t"/>
          <a:lstStyle/>
          <a:p>
            <a:pPr indent="0" marL="0">
              <a:buNone/>
            </a:pPr>
            <a:r>
              <a:rPr lang="en-US" sz="1200" dirty="0">
                <a:solidFill>
                  <a:schemeClr val="accent5"/>
                </a:solidFill>
              </a:rPr>
              <a:t>Business S–L; Starter from SAR 100; included in Enterprise M and L</a:t>
            </a:r>
            <a:endParaRPr lang="en-US" sz="1200" dirty="0"/>
          </a:p>
        </p:txBody>
      </p:sp>
      <p:sp>
        <p:nvSpPr>
          <p:cNvPr id="10" name="Text 7"/>
          <p:cNvSpPr txBox="1"/>
          <p:nvPr/>
        </p:nvSpPr>
        <p:spPr>
          <a:xfrm>
            <a:off x="868680" y="4526280"/>
            <a:ext cx="2926080" cy="868680"/>
          </a:xfrm>
          <a:prstGeom prst="rect">
            <a:avLst/>
          </a:prstGeom>
          <a:noFill/>
          <a:ln/>
        </p:spPr>
        <p:txBody>
          <a:bodyPr wrap="square" lIns="0" tIns="0" rIns="0" bIns="0" rtlCol="0" anchor="t"/>
          <a:lstStyle/>
          <a:p>
            <a:pPr indent="0" marL="0">
              <a:buNone/>
            </a:pPr>
            <a:r>
              <a:rPr lang="en-US" sz="1400" dirty="0">
                <a:solidFill>
                  <a:schemeClr val="tx1"/>
                </a:solidFill>
              </a:rPr>
              <a:t>Rules then ML scoring in each cell, no LLM. Step-up to passkey, OTP or Nafath.</a:t>
            </a:r>
            <a:endParaRPr lang="en-US" sz="1400" dirty="0"/>
          </a:p>
        </p:txBody>
      </p:sp>
      <p:sp>
        <p:nvSpPr>
          <p:cNvPr id="11" name="Text 8"/>
          <p:cNvSpPr txBox="1"/>
          <p:nvPr/>
        </p:nvSpPr>
        <p:spPr>
          <a:xfrm>
            <a:off x="868680" y="5440680"/>
            <a:ext cx="2926080" cy="365760"/>
          </a:xfrm>
          <a:prstGeom prst="rect">
            <a:avLst/>
          </a:prstGeom>
          <a:noFill/>
          <a:ln/>
        </p:spPr>
        <p:txBody>
          <a:bodyPr wrap="square" lIns="0" tIns="0" rIns="0" bIns="0" rtlCol="0" anchor="t"/>
          <a:lstStyle/>
          <a:p>
            <a:pPr indent="0" marL="0">
              <a:buNone/>
            </a:pPr>
            <a:r>
              <a:rPr lang="en-US" sz="1300" b="1" dirty="0">
                <a:solidFill>
                  <a:schemeClr val="tx2"/>
                </a:solidFill>
              </a:rPr>
              <a:t>Costs SAR 579 a month per cell</a:t>
            </a:r>
            <a:endParaRPr lang="en-US" sz="1300" dirty="0"/>
          </a:p>
        </p:txBody>
      </p:sp>
      <p:sp>
        <p:nvSpPr>
          <p:cNvPr id="12" name="ai offer Zimam Assist"/>
          <p:cNvSpPr/>
          <p:nvPr/>
        </p:nvSpPr>
        <p:spPr>
          <a:xfrm>
            <a:off x="4297680" y="1463040"/>
            <a:ext cx="3520440" cy="4572000"/>
          </a:xfrm>
          <a:prstGeom prst="roundRect">
            <a:avLst>
              <a:gd name="adj" fmla="val 2078"/>
            </a:avLst>
          </a:prstGeom>
          <a:solidFill>
            <a:schemeClr val="bg2"/>
          </a:solidFill>
          <a:ln/>
        </p:spPr>
      </p:sp>
      <p:sp>
        <p:nvSpPr>
          <p:cNvPr id="13" name="badge LuMessageSquare"/>
          <p:cNvSpPr/>
          <p:nvPr/>
        </p:nvSpPr>
        <p:spPr>
          <a:xfrm>
            <a:off x="4617720" y="1737360"/>
            <a:ext cx="640080" cy="640080"/>
          </a:xfrm>
          <a:prstGeom prst="ellipse">
            <a:avLst/>
          </a:prstGeom>
          <a:solidFill>
            <a:schemeClr val="bg1"/>
          </a:solidFill>
          <a:ln/>
        </p:spPr>
      </p:sp>
      <p:pic>
        <p:nvPicPr>
          <p:cNvPr id="14" name="icon LuMessageSquare" descr="preencoded.png">    </p:cNvPr>
          <p:cNvPicPr>
            <a:picLocks noChangeAspect="1"/>
          </p:cNvPicPr>
          <p:nvPr/>
        </p:nvPicPr>
        <p:blipFill>
          <a:blip r:embed="rId2"/>
          <a:stretch>
            <a:fillRect/>
          </a:stretch>
        </p:blipFill>
        <p:spPr>
          <a:xfrm>
            <a:off x="4771339" y="1890979"/>
            <a:ext cx="332842" cy="332842"/>
          </a:xfrm>
          <a:prstGeom prst="rect">
            <a:avLst/>
          </a:prstGeom>
        </p:spPr>
      </p:pic>
      <p:sp>
        <p:nvSpPr>
          <p:cNvPr id="15" name="Text 11"/>
          <p:cNvSpPr txBox="1"/>
          <p:nvPr/>
        </p:nvSpPr>
        <p:spPr>
          <a:xfrm>
            <a:off x="461772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Zimam Assist</a:t>
            </a:r>
            <a:endParaRPr lang="en-US" sz="2400" dirty="0"/>
          </a:p>
        </p:txBody>
      </p:sp>
      <p:sp>
        <p:nvSpPr>
          <p:cNvPr id="16" name="Text 12"/>
          <p:cNvSpPr txBox="1"/>
          <p:nvPr/>
        </p:nvSpPr>
        <p:spPr>
          <a:xfrm>
            <a:off x="4617720" y="3017520"/>
            <a:ext cx="2926080" cy="320040"/>
          </a:xfrm>
          <a:prstGeom prst="rect">
            <a:avLst/>
          </a:prstGeom>
          <a:noFill/>
          <a:ln/>
        </p:spPr>
        <p:txBody>
          <a:bodyPr wrap="square" lIns="0" tIns="0" rIns="0" bIns="0" rtlCol="0" anchor="t"/>
          <a:lstStyle/>
          <a:p>
            <a:pPr indent="0" marL="0">
              <a:buNone/>
            </a:pPr>
            <a:r>
              <a:rPr lang="en-US" sz="1400" dirty="0">
                <a:solidFill>
                  <a:schemeClr val="accent5"/>
                </a:solidFill>
              </a:rPr>
              <a:t>Arabic/English copilot</a:t>
            </a:r>
            <a:endParaRPr lang="en-US" sz="1400" dirty="0"/>
          </a:p>
        </p:txBody>
      </p:sp>
      <p:sp>
        <p:nvSpPr>
          <p:cNvPr id="17" name="Text 13"/>
          <p:cNvSpPr txBox="1"/>
          <p:nvPr/>
        </p:nvSpPr>
        <p:spPr>
          <a:xfrm>
            <a:off x="4617720" y="338328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Included</a:t>
            </a:r>
            <a:endParaRPr lang="en-US" sz="2000" dirty="0"/>
          </a:p>
        </p:txBody>
      </p:sp>
      <p:sp>
        <p:nvSpPr>
          <p:cNvPr id="18" name="Text 14"/>
          <p:cNvSpPr txBox="1"/>
          <p:nvPr/>
        </p:nvSpPr>
        <p:spPr>
          <a:xfrm>
            <a:off x="4617720" y="3840480"/>
            <a:ext cx="2926080" cy="640080"/>
          </a:xfrm>
          <a:prstGeom prst="rect">
            <a:avLst/>
          </a:prstGeom>
          <a:noFill/>
          <a:ln/>
        </p:spPr>
        <p:txBody>
          <a:bodyPr wrap="square" lIns="0" tIns="0" rIns="0" bIns="0" rtlCol="0" anchor="t"/>
          <a:lstStyle/>
          <a:p>
            <a:pPr indent="0" marL="0">
              <a:buNone/>
            </a:pPr>
            <a:r>
              <a:rPr lang="en-US" sz="1200" dirty="0">
                <a:solidFill>
                  <a:schemeClr val="accent5"/>
                </a:solidFill>
              </a:rPr>
              <a:t>50 / 300 / 1,000 requests a month; extra SAR 75 per 100</a:t>
            </a:r>
            <a:endParaRPr lang="en-US" sz="1200" dirty="0"/>
          </a:p>
        </p:txBody>
      </p:sp>
      <p:sp>
        <p:nvSpPr>
          <p:cNvPr id="19" name="Text 15"/>
          <p:cNvSpPr txBox="1"/>
          <p:nvPr/>
        </p:nvSpPr>
        <p:spPr>
          <a:xfrm>
            <a:off x="4617720" y="4526280"/>
            <a:ext cx="2926080" cy="868680"/>
          </a:xfrm>
          <a:prstGeom prst="rect">
            <a:avLst/>
          </a:prstGeom>
          <a:noFill/>
          <a:ln/>
        </p:spPr>
        <p:txBody>
          <a:bodyPr wrap="square" lIns="0" tIns="0" rIns="0" bIns="0" rtlCol="0" anchor="t"/>
          <a:lstStyle/>
          <a:p>
            <a:pPr indent="0" marL="0">
              <a:buNone/>
            </a:pPr>
            <a:r>
              <a:rPr lang="en-US" sz="1400" dirty="0">
                <a:solidFill>
                  <a:schemeClr val="tx1"/>
                </a:solidFill>
              </a:rPr>
              <a:t>OCI Generative AI in Riyadh. Every config change is a diff the admin approves.</a:t>
            </a:r>
            <a:endParaRPr lang="en-US" sz="1400" dirty="0"/>
          </a:p>
        </p:txBody>
      </p:sp>
      <p:sp>
        <p:nvSpPr>
          <p:cNvPr id="20" name="Text 16"/>
          <p:cNvSpPr txBox="1"/>
          <p:nvPr/>
        </p:nvSpPr>
        <p:spPr>
          <a:xfrm>
            <a:off x="4617720" y="5440680"/>
            <a:ext cx="2926080" cy="365760"/>
          </a:xfrm>
          <a:prstGeom prst="rect">
            <a:avLst/>
          </a:prstGeom>
          <a:noFill/>
          <a:ln/>
        </p:spPr>
        <p:txBody>
          <a:bodyPr wrap="square" lIns="0" tIns="0" rIns="0" bIns="0" rtlCol="0" anchor="t"/>
          <a:lstStyle/>
          <a:p>
            <a:pPr indent="0" marL="0">
              <a:buNone/>
            </a:pPr>
            <a:r>
              <a:rPr lang="en-US" sz="1300" b="1" dirty="0">
                <a:solidFill>
                  <a:schemeClr val="tx2"/>
                </a:solidFill>
              </a:rPr>
              <a:t>Costs SAR 0.28 a request</a:t>
            </a:r>
            <a:endParaRPr lang="en-US" sz="1300" dirty="0"/>
          </a:p>
        </p:txBody>
      </p:sp>
      <p:sp>
        <p:nvSpPr>
          <p:cNvPr id="21" name="ai offer Agent Pack"/>
          <p:cNvSpPr/>
          <p:nvPr/>
        </p:nvSpPr>
        <p:spPr>
          <a:xfrm>
            <a:off x="8046720" y="1463040"/>
            <a:ext cx="3520440" cy="4572000"/>
          </a:xfrm>
          <a:prstGeom prst="roundRect">
            <a:avLst>
              <a:gd name="adj" fmla="val 2078"/>
            </a:avLst>
          </a:prstGeom>
          <a:solidFill>
            <a:schemeClr val="bg2"/>
          </a:solidFill>
          <a:ln/>
        </p:spPr>
      </p:sp>
      <p:sp>
        <p:nvSpPr>
          <p:cNvPr id="22" name="badge LuBot"/>
          <p:cNvSpPr/>
          <p:nvPr/>
        </p:nvSpPr>
        <p:spPr>
          <a:xfrm>
            <a:off x="8366760" y="1737360"/>
            <a:ext cx="640080" cy="640080"/>
          </a:xfrm>
          <a:prstGeom prst="ellipse">
            <a:avLst/>
          </a:prstGeom>
          <a:solidFill>
            <a:schemeClr val="bg1"/>
          </a:solidFill>
          <a:ln/>
        </p:spPr>
      </p:sp>
      <p:pic>
        <p:nvPicPr>
          <p:cNvPr id="23" name="icon LuBot" descr="preencoded.png">    </p:cNvPr>
          <p:cNvPicPr>
            <a:picLocks noChangeAspect="1"/>
          </p:cNvPicPr>
          <p:nvPr/>
        </p:nvPicPr>
        <p:blipFill>
          <a:blip r:embed="rId3"/>
          <a:stretch>
            <a:fillRect/>
          </a:stretch>
        </p:blipFill>
        <p:spPr>
          <a:xfrm>
            <a:off x="8520379" y="1890979"/>
            <a:ext cx="332842" cy="332842"/>
          </a:xfrm>
          <a:prstGeom prst="rect">
            <a:avLst/>
          </a:prstGeom>
        </p:spPr>
      </p:pic>
      <p:sp>
        <p:nvSpPr>
          <p:cNvPr id="24" name="Text 19"/>
          <p:cNvSpPr txBox="1"/>
          <p:nvPr/>
        </p:nvSpPr>
        <p:spPr>
          <a:xfrm>
            <a:off x="8366760" y="25603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Agent Pack</a:t>
            </a:r>
            <a:endParaRPr lang="en-US" sz="2400" dirty="0"/>
          </a:p>
        </p:txBody>
      </p:sp>
      <p:sp>
        <p:nvSpPr>
          <p:cNvPr id="25" name="Text 20"/>
          <p:cNvSpPr txBox="1"/>
          <p:nvPr/>
        </p:nvSpPr>
        <p:spPr>
          <a:xfrm>
            <a:off x="8366760" y="3017520"/>
            <a:ext cx="2926080" cy="320040"/>
          </a:xfrm>
          <a:prstGeom prst="rect">
            <a:avLst/>
          </a:prstGeom>
          <a:noFill/>
          <a:ln/>
        </p:spPr>
        <p:txBody>
          <a:bodyPr wrap="square" lIns="0" tIns="0" rIns="0" bIns="0" rtlCol="0" anchor="t"/>
          <a:lstStyle/>
          <a:p>
            <a:pPr indent="0" marL="0">
              <a:buNone/>
            </a:pPr>
            <a:r>
              <a:rPr lang="en-US" sz="1400" dirty="0">
                <a:solidFill>
                  <a:schemeClr val="accent5"/>
                </a:solidFill>
              </a:rPr>
              <a:t>Identity for AI agents</a:t>
            </a:r>
            <a:endParaRPr lang="en-US" sz="1400" dirty="0"/>
          </a:p>
        </p:txBody>
      </p:sp>
      <p:sp>
        <p:nvSpPr>
          <p:cNvPr id="26" name="Text 21"/>
          <p:cNvSpPr txBox="1"/>
          <p:nvPr/>
        </p:nvSpPr>
        <p:spPr>
          <a:xfrm>
            <a:off x="8366760" y="3383280"/>
            <a:ext cx="2926080" cy="457200"/>
          </a:xfrm>
          <a:prstGeom prst="rect">
            <a:avLst/>
          </a:prstGeom>
          <a:noFill/>
          <a:ln/>
        </p:spPr>
        <p:txBody>
          <a:bodyPr wrap="square" lIns="0" tIns="0" rIns="0" bIns="0" rtlCol="0" anchor="t"/>
          <a:lstStyle/>
          <a:p>
            <a:pPr indent="0" marL="0">
              <a:buNone/>
            </a:pPr>
            <a:r>
              <a:rPr lang="en-US" sz="2000" b="1" dirty="0">
                <a:solidFill>
                  <a:schemeClr val="accent1"/>
                </a:solidFill>
              </a:rPr>
              <a:t>SAR 750</a:t>
            </a:r>
            <a:endParaRPr lang="en-US" sz="2000" dirty="0"/>
          </a:p>
        </p:txBody>
      </p:sp>
      <p:sp>
        <p:nvSpPr>
          <p:cNvPr id="27" name="Text 22"/>
          <p:cNvSpPr txBox="1"/>
          <p:nvPr/>
        </p:nvSpPr>
        <p:spPr>
          <a:xfrm>
            <a:off x="8366760" y="3840480"/>
            <a:ext cx="2926080" cy="640080"/>
          </a:xfrm>
          <a:prstGeom prst="rect">
            <a:avLst/>
          </a:prstGeom>
          <a:noFill/>
          <a:ln/>
        </p:spPr>
        <p:txBody>
          <a:bodyPr wrap="square" lIns="0" tIns="0" rIns="0" bIns="0" rtlCol="0" anchor="t"/>
          <a:lstStyle/>
          <a:p>
            <a:pPr indent="0" marL="0">
              <a:buNone/>
            </a:pPr>
            <a:r>
              <a:rPr lang="en-US" sz="1200" dirty="0">
                <a:solidFill>
                  <a:schemeClr val="accent5"/>
                </a:solidFill>
              </a:rPr>
              <a:t>Business, preview; Enterprise later</a:t>
            </a:r>
            <a:endParaRPr lang="en-US" sz="1200" dirty="0"/>
          </a:p>
        </p:txBody>
      </p:sp>
      <p:sp>
        <p:nvSpPr>
          <p:cNvPr id="28" name="Text 23"/>
          <p:cNvSpPr txBox="1"/>
          <p:nvPr/>
        </p:nvSpPr>
        <p:spPr>
          <a:xfrm>
            <a:off x="8366760" y="4526280"/>
            <a:ext cx="2926080" cy="868680"/>
          </a:xfrm>
          <a:prstGeom prst="rect">
            <a:avLst/>
          </a:prstGeom>
          <a:noFill/>
          <a:ln/>
        </p:spPr>
        <p:txBody>
          <a:bodyPr wrap="square" lIns="0" tIns="0" rIns="0" bIns="0" rtlCol="0" anchor="t"/>
          <a:lstStyle/>
          <a:p>
            <a:pPr indent="0" marL="0">
              <a:buNone/>
            </a:pPr>
            <a:r>
              <a:rPr lang="en-US" sz="1400" dirty="0">
                <a:solidFill>
                  <a:schemeClr val="tx1"/>
                </a:solidFill>
              </a:rPr>
              <a:t>Keycloak MCP authorization, token exchange and CIBA approvals, packaged in the portal.</a:t>
            </a:r>
            <a:endParaRPr lang="en-US" sz="1400" dirty="0"/>
          </a:p>
        </p:txBody>
      </p:sp>
      <p:sp>
        <p:nvSpPr>
          <p:cNvPr id="29" name="Text 24"/>
          <p:cNvSpPr txBox="1"/>
          <p:nvPr/>
        </p:nvSpPr>
        <p:spPr>
          <a:xfrm>
            <a:off x="8366760" y="5440680"/>
            <a:ext cx="2926080" cy="365760"/>
          </a:xfrm>
          <a:prstGeom prst="rect">
            <a:avLst/>
          </a:prstGeom>
          <a:noFill/>
          <a:ln/>
        </p:spPr>
        <p:txBody>
          <a:bodyPr wrap="square" lIns="0" tIns="0" rIns="0" bIns="0" rtlCol="0" anchor="t"/>
          <a:lstStyle/>
          <a:p>
            <a:pPr indent="0" marL="0">
              <a:buNone/>
            </a:pPr>
            <a:r>
              <a:rPr lang="en-US" sz="1300" b="1" dirty="0">
                <a:solidFill>
                  <a:schemeClr val="tx2"/>
                </a:solidFill>
              </a:rPr>
              <a:t>Mostly engineering cost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AI add-ons keep margins above 60%</a:t>
            </a:r>
            <a:endParaRPr lang="en-US" sz="3400" dirty="0"/>
          </a:p>
        </p:txBody>
      </p:sp>
      <p:graphicFrame>
        <p:nvGraphicFramePr>
          <p:cNvPr id="3" name="Chart 0" descr=""/>
          <p:cNvGraphicFramePr/>
          <p:nvPr/>
        </p:nvGraphicFramePr>
        <p:xfrm>
          <a:off x="54864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ai insight 1"/>
          <p:cNvSpPr/>
          <p:nvPr/>
        </p:nvSpPr>
        <p:spPr>
          <a:xfrm>
            <a:off x="8046720" y="1463040"/>
            <a:ext cx="3566160" cy="1371600"/>
          </a:xfrm>
          <a:prstGeom prst="roundRect">
            <a:avLst>
              <a:gd name="adj" fmla="val 5333"/>
            </a:avLst>
          </a:prstGeom>
          <a:solidFill>
            <a:schemeClr val="bg2"/>
          </a:solidFill>
          <a:ln/>
        </p:spPr>
      </p:sp>
      <p:sp>
        <p:nvSpPr>
          <p:cNvPr id="5" name="badge LuServer"/>
          <p:cNvSpPr/>
          <p:nvPr/>
        </p:nvSpPr>
        <p:spPr>
          <a:xfrm>
            <a:off x="8275320" y="1691640"/>
            <a:ext cx="502920" cy="502920"/>
          </a:xfrm>
          <a:prstGeom prst="ellipse">
            <a:avLst/>
          </a:prstGeom>
          <a:solidFill>
            <a:schemeClr val="bg1"/>
          </a:solidFill>
          <a:ln/>
        </p:spPr>
      </p:sp>
      <p:pic>
        <p:nvPicPr>
          <p:cNvPr id="6" name="icon LuServer" descr="preencoded.png">    </p:cNvPr>
          <p:cNvPicPr>
            <a:picLocks noChangeAspect="1"/>
          </p:cNvPicPr>
          <p:nvPr/>
        </p:nvPicPr>
        <p:blipFill>
          <a:blip r:embed="rId2"/>
          <a:stretch>
            <a:fillRect/>
          </a:stretch>
        </p:blipFill>
        <p:spPr>
          <a:xfrm>
            <a:off x="8396021" y="1812341"/>
            <a:ext cx="261518" cy="261518"/>
          </a:xfrm>
          <a:prstGeom prst="rect">
            <a:avLst/>
          </a:prstGeom>
        </p:spPr>
      </p:pic>
      <p:sp>
        <p:nvSpPr>
          <p:cNvPr id="7" name="Text 3"/>
          <p:cNvSpPr txBox="1"/>
          <p:nvPr/>
        </p:nvSpPr>
        <p:spPr>
          <a:xfrm>
            <a:off x="8961120" y="166420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SAR 579 a cell</a:t>
            </a:r>
            <a:endParaRPr lang="en-US" sz="1800" dirty="0"/>
          </a:p>
        </p:txBody>
      </p:sp>
      <p:sp>
        <p:nvSpPr>
          <p:cNvPr id="8" name="Text 4"/>
          <p:cNvSpPr txBox="1"/>
          <p:nvPr/>
        </p:nvSpPr>
        <p:spPr>
          <a:xfrm>
            <a:off x="8961120" y="2057400"/>
            <a:ext cx="2514600" cy="731520"/>
          </a:xfrm>
          <a:prstGeom prst="rect">
            <a:avLst/>
          </a:prstGeom>
          <a:noFill/>
          <a:ln/>
        </p:spPr>
        <p:txBody>
          <a:bodyPr wrap="square" lIns="0" tIns="0" rIns="0" bIns="0" rtlCol="0" anchor="t"/>
          <a:lstStyle/>
          <a:p>
            <a:pPr indent="0" marL="0">
              <a:buNone/>
            </a:pPr>
            <a:r>
              <a:rPr lang="en-US" sz="1200" dirty="0">
                <a:solidFill>
                  <a:schemeClr val="tx1"/>
                </a:solidFill>
              </a:rPr>
              <a:t>Protect's whole cost, Jeddah standby included. Two Business S subscribers cover it.</a:t>
            </a:r>
            <a:endParaRPr lang="en-US" sz="1200" dirty="0"/>
          </a:p>
        </p:txBody>
      </p:sp>
      <p:sp>
        <p:nvSpPr>
          <p:cNvPr id="9" name="ai insight 2"/>
          <p:cNvSpPr/>
          <p:nvPr/>
        </p:nvSpPr>
        <p:spPr>
          <a:xfrm>
            <a:off x="8046720" y="3017520"/>
            <a:ext cx="3566160" cy="1371600"/>
          </a:xfrm>
          <a:prstGeom prst="roundRect">
            <a:avLst>
              <a:gd name="adj" fmla="val 5333"/>
            </a:avLst>
          </a:prstGeom>
          <a:solidFill>
            <a:schemeClr val="bg2"/>
          </a:solidFill>
          <a:ln/>
        </p:spPr>
      </p:sp>
      <p:sp>
        <p:nvSpPr>
          <p:cNvPr id="10" name="badge LuLandmark"/>
          <p:cNvSpPr/>
          <p:nvPr/>
        </p:nvSpPr>
        <p:spPr>
          <a:xfrm>
            <a:off x="8275320" y="3246120"/>
            <a:ext cx="502920" cy="502920"/>
          </a:xfrm>
          <a:prstGeom prst="ellipse">
            <a:avLst/>
          </a:prstGeom>
          <a:solidFill>
            <a:schemeClr val="bg1"/>
          </a:solidFill>
          <a:ln/>
        </p:spPr>
      </p:sp>
      <p:pic>
        <p:nvPicPr>
          <p:cNvPr id="11" name="icon LuLandmark" descr="preencoded.png">    </p:cNvPr>
          <p:cNvPicPr>
            <a:picLocks noChangeAspect="1"/>
          </p:cNvPicPr>
          <p:nvPr/>
        </p:nvPicPr>
        <p:blipFill>
          <a:blip r:embed="rId3"/>
          <a:stretch>
            <a:fillRect/>
          </a:stretch>
        </p:blipFill>
        <p:spPr>
          <a:xfrm>
            <a:off x="8396021" y="3366821"/>
            <a:ext cx="261518" cy="261518"/>
          </a:xfrm>
          <a:prstGeom prst="rect">
            <a:avLst/>
          </a:prstGeom>
        </p:spPr>
      </p:pic>
      <p:sp>
        <p:nvSpPr>
          <p:cNvPr id="12" name="Text 7"/>
          <p:cNvSpPr txBox="1"/>
          <p:nvPr/>
        </p:nvSpPr>
        <p:spPr>
          <a:xfrm>
            <a:off x="8961120" y="321868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S 57% · M/L 54%</a:t>
            </a:r>
            <a:endParaRPr lang="en-US" sz="1800" dirty="0"/>
          </a:p>
        </p:txBody>
      </p:sp>
      <p:sp>
        <p:nvSpPr>
          <p:cNvPr id="13" name="Text 8"/>
          <p:cNvSpPr txBox="1"/>
          <p:nvPr/>
        </p:nvSpPr>
        <p:spPr>
          <a:xfrm>
            <a:off x="8961120" y="3611880"/>
            <a:ext cx="2514600" cy="731520"/>
          </a:xfrm>
          <a:prstGeom prst="rect">
            <a:avLst/>
          </a:prstGeom>
          <a:noFill/>
          <a:ln/>
        </p:spPr>
        <p:txBody>
          <a:bodyPr wrap="square" lIns="0" tIns="0" rIns="0" bIns="0" rtlCol="0" anchor="t"/>
          <a:lstStyle/>
          <a:p>
            <a:pPr indent="0" marL="0">
              <a:buNone/>
            </a:pPr>
            <a:r>
              <a:rPr lang="en-US" sz="1200" dirty="0">
                <a:solidFill>
                  <a:schemeClr val="tx1"/>
                </a:solidFill>
              </a:rPr>
              <a:t>Enterprise margin with AI. Protect is an add-on on S; on M and L it costs ~5 points.</a:t>
            </a:r>
            <a:endParaRPr lang="en-US" sz="1200" dirty="0"/>
          </a:p>
        </p:txBody>
      </p:sp>
      <p:sp>
        <p:nvSpPr>
          <p:cNvPr id="14" name="ai insight 3"/>
          <p:cNvSpPr/>
          <p:nvPr/>
        </p:nvSpPr>
        <p:spPr>
          <a:xfrm>
            <a:off x="8046720" y="4572000"/>
            <a:ext cx="3566160" cy="1371600"/>
          </a:xfrm>
          <a:prstGeom prst="roundRect">
            <a:avLst>
              <a:gd name="adj" fmla="val 5333"/>
            </a:avLst>
          </a:prstGeom>
          <a:solidFill>
            <a:schemeClr val="bg2"/>
          </a:solidFill>
          <a:ln/>
        </p:spPr>
      </p:sp>
      <p:sp>
        <p:nvSpPr>
          <p:cNvPr id="15" name="badge LuCpu"/>
          <p:cNvSpPr/>
          <p:nvPr/>
        </p:nvSpPr>
        <p:spPr>
          <a:xfrm>
            <a:off x="8275320" y="4800600"/>
            <a:ext cx="502920" cy="502920"/>
          </a:xfrm>
          <a:prstGeom prst="ellipse">
            <a:avLst/>
          </a:prstGeom>
          <a:solidFill>
            <a:schemeClr val="bg1"/>
          </a:solidFill>
          <a:ln/>
        </p:spPr>
      </p:sp>
      <p:pic>
        <p:nvPicPr>
          <p:cNvPr id="16" name="icon LuCpu" descr="preencoded.png">    </p:cNvPr>
          <p:cNvPicPr>
            <a:picLocks noChangeAspect="1"/>
          </p:cNvPicPr>
          <p:nvPr/>
        </p:nvPicPr>
        <p:blipFill>
          <a:blip r:embed="rId4"/>
          <a:stretch>
            <a:fillRect/>
          </a:stretch>
        </p:blipFill>
        <p:spPr>
          <a:xfrm>
            <a:off x="8396021" y="4921301"/>
            <a:ext cx="261518" cy="261518"/>
          </a:xfrm>
          <a:prstGeom prst="rect">
            <a:avLst/>
          </a:prstGeom>
        </p:spPr>
      </p:pic>
      <p:sp>
        <p:nvSpPr>
          <p:cNvPr id="17" name="Text 11"/>
          <p:cNvSpPr txBox="1"/>
          <p:nvPr/>
        </p:nvSpPr>
        <p:spPr>
          <a:xfrm>
            <a:off x="8961120" y="4773168"/>
            <a:ext cx="2560320" cy="411480"/>
          </a:xfrm>
          <a:prstGeom prst="rect">
            <a:avLst/>
          </a:prstGeom>
          <a:noFill/>
          <a:ln/>
        </p:spPr>
        <p:txBody>
          <a:bodyPr wrap="square" lIns="0" tIns="0" rIns="0" bIns="0" rtlCol="0" anchor="t"/>
          <a:lstStyle/>
          <a:p>
            <a:pPr indent="0" marL="0">
              <a:buNone/>
            </a:pPr>
            <a:r>
              <a:rPr lang="en-US" sz="1800" b="1" dirty="0">
                <a:solidFill>
                  <a:schemeClr val="accent1"/>
                </a:solidFill>
              </a:rPr>
              <a:t>20,000 requests</a:t>
            </a:r>
            <a:endParaRPr lang="en-US" sz="1800" dirty="0"/>
          </a:p>
        </p:txBody>
      </p:sp>
      <p:sp>
        <p:nvSpPr>
          <p:cNvPr id="18" name="Text 12"/>
          <p:cNvSpPr txBox="1"/>
          <p:nvPr/>
        </p:nvSpPr>
        <p:spPr>
          <a:xfrm>
            <a:off x="8961120" y="5166360"/>
            <a:ext cx="2514600" cy="731520"/>
          </a:xfrm>
          <a:prstGeom prst="rect">
            <a:avLst/>
          </a:prstGeom>
          <a:noFill/>
          <a:ln/>
        </p:spPr>
        <p:txBody>
          <a:bodyPr wrap="square" lIns="0" tIns="0" rIns="0" bIns="0" rtlCol="0" anchor="t"/>
          <a:lstStyle/>
          <a:p>
            <a:pPr indent="0" marL="0">
              <a:buNone/>
            </a:pPr>
            <a:r>
              <a:rPr lang="en-US" sz="1200" dirty="0">
                <a:solidFill>
                  <a:schemeClr val="tx1"/>
                </a:solidFill>
              </a:rPr>
              <a:t>a month before a self-hosted GPU (SAR 5,507) beats on-demand OCI Generative AI.</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Settle four items before publishing prices</a:t>
            </a:r>
            <a:endParaRPr lang="en-US" sz="3400" dirty="0"/>
          </a:p>
        </p:txBody>
      </p:sp>
      <p:sp>
        <p:nvSpPr>
          <p:cNvPr id="3" name="risk 1"/>
          <p:cNvSpPr/>
          <p:nvPr/>
        </p:nvSpPr>
        <p:spPr>
          <a:xfrm>
            <a:off x="548640" y="1463040"/>
            <a:ext cx="5440680" cy="2148840"/>
          </a:xfrm>
          <a:prstGeom prst="roundRect">
            <a:avLst>
              <a:gd name="adj" fmla="val 3404"/>
            </a:avLst>
          </a:prstGeom>
          <a:solidFill>
            <a:schemeClr val="bg2"/>
          </a:solidFill>
          <a:ln/>
        </p:spPr>
      </p:sp>
      <p:sp>
        <p:nvSpPr>
          <p:cNvPr id="4" name="badge LuDatabase"/>
          <p:cNvSpPr/>
          <p:nvPr/>
        </p:nvSpPr>
        <p:spPr>
          <a:xfrm>
            <a:off x="822960" y="1737360"/>
            <a:ext cx="548640" cy="548640"/>
          </a:xfrm>
          <a:prstGeom prst="ellipse">
            <a:avLst/>
          </a:prstGeom>
          <a:solidFill>
            <a:schemeClr val="bg1"/>
          </a:solidFill>
          <a:ln/>
        </p:spPr>
      </p:sp>
      <p:pic>
        <p:nvPicPr>
          <p:cNvPr id="5" name="icon LuDatabase" descr="preencoded.png">    </p:cNvPr>
          <p:cNvPicPr>
            <a:picLocks noChangeAspect="1"/>
          </p:cNvPicPr>
          <p:nvPr/>
        </p:nvPicPr>
        <p:blipFill>
          <a:blip r:embed="rId1"/>
          <a:stretch>
            <a:fillRect/>
          </a:stretch>
        </p:blipFill>
        <p:spPr>
          <a:xfrm>
            <a:off x="954634" y="1869034"/>
            <a:ext cx="285293" cy="285293"/>
          </a:xfrm>
          <a:prstGeom prst="rect">
            <a:avLst/>
          </a:prstGeom>
        </p:spPr>
      </p:pic>
      <p:sp>
        <p:nvSpPr>
          <p:cNvPr id="6" name="Text 3"/>
          <p:cNvSpPr txBox="1"/>
          <p:nvPr/>
        </p:nvSpPr>
        <p:spPr>
          <a:xfrm>
            <a:off x="1554480" y="1810512"/>
            <a:ext cx="4206240" cy="411480"/>
          </a:xfrm>
          <a:prstGeom prst="rect">
            <a:avLst/>
          </a:prstGeom>
          <a:noFill/>
          <a:ln/>
        </p:spPr>
        <p:txBody>
          <a:bodyPr wrap="square" lIns="0" tIns="0" rIns="0" bIns="0" rtlCol="0" anchor="t"/>
          <a:lstStyle/>
          <a:p>
            <a:pPr indent="0" marL="0">
              <a:buNone/>
            </a:pPr>
            <a:r>
              <a:rPr lang="en-US" sz="1800" b="1" dirty="0">
                <a:solidFill>
                  <a:schemeClr val="tx2"/>
                </a:solidFill>
              </a:rPr>
              <a:t>PostgreSQL pricing</a:t>
            </a:r>
            <a:endParaRPr lang="en-US" sz="1800" dirty="0"/>
          </a:p>
        </p:txBody>
      </p:sp>
      <p:sp>
        <p:nvSpPr>
          <p:cNvPr id="7" name="Text 4"/>
          <p:cNvSpPr txBox="1"/>
          <p:nvPr/>
        </p:nvSpPr>
        <p:spPr>
          <a:xfrm>
            <a:off x="822960" y="2423160"/>
            <a:ext cx="4892040" cy="685800"/>
          </a:xfrm>
          <a:prstGeom prst="rect">
            <a:avLst/>
          </a:prstGeom>
          <a:noFill/>
          <a:ln/>
        </p:spPr>
        <p:txBody>
          <a:bodyPr wrap="square" lIns="0" tIns="0" rIns="0" bIns="0" rtlCol="0" anchor="t"/>
          <a:lstStyle/>
          <a:p>
            <a:pPr indent="0" marL="0">
              <a:buNone/>
            </a:pPr>
            <a:r>
              <a:rPr lang="en-US" sz="1400" dirty="0">
                <a:solidFill>
                  <a:schemeClr val="tx1"/>
                </a:solidFill>
              </a:rPr>
              <a:t>Oracle doesn't publish the memory price or how HA replicas are billed. It is our largest cost line.</a:t>
            </a:r>
            <a:endParaRPr lang="en-US" sz="1400" dirty="0"/>
          </a:p>
        </p:txBody>
      </p:sp>
      <p:sp>
        <p:nvSpPr>
          <p:cNvPr id="8" name="Text 5"/>
          <p:cNvSpPr txBox="1"/>
          <p:nvPr/>
        </p:nvSpPr>
        <p:spPr>
          <a:xfrm>
            <a:off x="822960" y="3108960"/>
            <a:ext cx="4892040" cy="365760"/>
          </a:xfrm>
          <a:prstGeom prst="rect">
            <a:avLst/>
          </a:prstGeom>
          <a:noFill/>
          <a:ln/>
        </p:spPr>
        <p:txBody>
          <a:bodyPr wrap="square" lIns="0" tIns="0" rIns="0" bIns="0" rtlCol="0" anchor="t"/>
          <a:lstStyle/>
          <a:p>
            <a:pPr indent="0" marL="0">
              <a:buNone/>
            </a:pPr>
            <a:r>
              <a:rPr lang="en-US" sz="1300" b="1" dirty="0">
                <a:solidFill>
                  <a:schemeClr val="accent1"/>
                </a:solidFill>
              </a:rPr>
              <a:t>Next: Oracle sales call, cost estimator</a:t>
            </a:r>
            <a:endParaRPr lang="en-US" sz="1300" dirty="0"/>
          </a:p>
        </p:txBody>
      </p:sp>
      <p:sp>
        <p:nvSpPr>
          <p:cNvPr id="9" name="risk 2"/>
          <p:cNvSpPr/>
          <p:nvPr/>
        </p:nvSpPr>
        <p:spPr>
          <a:xfrm>
            <a:off x="6172200" y="1463040"/>
            <a:ext cx="5440680" cy="2148840"/>
          </a:xfrm>
          <a:prstGeom prst="roundRect">
            <a:avLst>
              <a:gd name="adj" fmla="val 3404"/>
            </a:avLst>
          </a:prstGeom>
          <a:solidFill>
            <a:schemeClr val="bg2"/>
          </a:solidFill>
          <a:ln/>
        </p:spPr>
      </p:sp>
      <p:sp>
        <p:nvSpPr>
          <p:cNvPr id="10" name="badge LuReceipt"/>
          <p:cNvSpPr/>
          <p:nvPr/>
        </p:nvSpPr>
        <p:spPr>
          <a:xfrm>
            <a:off x="6446520" y="1737360"/>
            <a:ext cx="548640" cy="548640"/>
          </a:xfrm>
          <a:prstGeom prst="ellipse">
            <a:avLst/>
          </a:prstGeom>
          <a:solidFill>
            <a:schemeClr val="bg1"/>
          </a:solidFill>
          <a:ln/>
        </p:spPr>
      </p:sp>
      <p:pic>
        <p:nvPicPr>
          <p:cNvPr id="11" name="icon LuReceipt" descr="preencoded.png">    </p:cNvPr>
          <p:cNvPicPr>
            <a:picLocks noChangeAspect="1"/>
          </p:cNvPicPr>
          <p:nvPr/>
        </p:nvPicPr>
        <p:blipFill>
          <a:blip r:embed="rId2"/>
          <a:stretch>
            <a:fillRect/>
          </a:stretch>
        </p:blipFill>
        <p:spPr>
          <a:xfrm>
            <a:off x="6578194" y="1869034"/>
            <a:ext cx="285293" cy="285293"/>
          </a:xfrm>
          <a:prstGeom prst="rect">
            <a:avLst/>
          </a:prstGeom>
        </p:spPr>
      </p:pic>
      <p:sp>
        <p:nvSpPr>
          <p:cNvPr id="12" name="Text 8"/>
          <p:cNvSpPr txBox="1"/>
          <p:nvPr/>
        </p:nvSpPr>
        <p:spPr>
          <a:xfrm>
            <a:off x="7178040" y="1810512"/>
            <a:ext cx="4206240" cy="411480"/>
          </a:xfrm>
          <a:prstGeom prst="rect">
            <a:avLst/>
          </a:prstGeom>
          <a:noFill/>
          <a:ln/>
        </p:spPr>
        <p:txBody>
          <a:bodyPr wrap="square" lIns="0" tIns="0" rIns="0" bIns="0" rtlCol="0" anchor="t"/>
          <a:lstStyle/>
          <a:p>
            <a:pPr indent="0" marL="0">
              <a:buNone/>
            </a:pPr>
            <a:r>
              <a:rPr lang="en-US" sz="1800" b="1" dirty="0">
                <a:solidFill>
                  <a:schemeClr val="tx2"/>
                </a:solidFill>
              </a:rPr>
              <a:t>Third-party costs</a:t>
            </a:r>
            <a:endParaRPr lang="en-US" sz="1800" dirty="0"/>
          </a:p>
        </p:txBody>
      </p:sp>
      <p:sp>
        <p:nvSpPr>
          <p:cNvPr id="13" name="Text 9"/>
          <p:cNvSpPr txBox="1"/>
          <p:nvPr/>
        </p:nvSpPr>
        <p:spPr>
          <a:xfrm>
            <a:off x="6446520" y="2423160"/>
            <a:ext cx="4892040" cy="685800"/>
          </a:xfrm>
          <a:prstGeom prst="rect">
            <a:avLst/>
          </a:prstGeom>
          <a:noFill/>
          <a:ln/>
        </p:spPr>
        <p:txBody>
          <a:bodyPr wrap="square" lIns="0" tIns="0" rIns="0" bIns="0" rtlCol="0" anchor="t"/>
          <a:lstStyle/>
          <a:p>
            <a:pPr indent="0" marL="0">
              <a:buNone/>
            </a:pPr>
            <a:r>
              <a:rPr lang="en-US" sz="1400" dirty="0">
                <a:solidFill>
                  <a:schemeClr val="tx1"/>
                </a:solidFill>
              </a:rPr>
              <a:t>SOC partner, pentests, ISO certification and ZATCA provider are placeholders.</a:t>
            </a:r>
            <a:endParaRPr lang="en-US" sz="1400" dirty="0"/>
          </a:p>
        </p:txBody>
      </p:sp>
      <p:sp>
        <p:nvSpPr>
          <p:cNvPr id="14" name="Text 10"/>
          <p:cNvSpPr txBox="1"/>
          <p:nvPr/>
        </p:nvSpPr>
        <p:spPr>
          <a:xfrm>
            <a:off x="6446520" y="3108960"/>
            <a:ext cx="4892040" cy="365760"/>
          </a:xfrm>
          <a:prstGeom prst="rect">
            <a:avLst/>
          </a:prstGeom>
          <a:noFill/>
          <a:ln/>
        </p:spPr>
        <p:txBody>
          <a:bodyPr wrap="square" lIns="0" tIns="0" rIns="0" bIns="0" rtlCol="0" anchor="t"/>
          <a:lstStyle/>
          <a:p>
            <a:pPr indent="0" marL="0">
              <a:buNone/>
            </a:pPr>
            <a:r>
              <a:rPr lang="en-US" sz="1300" b="1" dirty="0">
                <a:solidFill>
                  <a:schemeClr val="accent1"/>
                </a:solidFill>
              </a:rPr>
              <a:t>Next: Get three quotes each</a:t>
            </a:r>
            <a:endParaRPr lang="en-US" sz="1300" dirty="0"/>
          </a:p>
        </p:txBody>
      </p:sp>
      <p:sp>
        <p:nvSpPr>
          <p:cNvPr id="15" name="risk 3"/>
          <p:cNvSpPr/>
          <p:nvPr/>
        </p:nvSpPr>
        <p:spPr>
          <a:xfrm>
            <a:off x="548640" y="3840480"/>
            <a:ext cx="5440680" cy="2148840"/>
          </a:xfrm>
          <a:prstGeom prst="roundRect">
            <a:avLst>
              <a:gd name="adj" fmla="val 3404"/>
            </a:avLst>
          </a:prstGeom>
          <a:solidFill>
            <a:schemeClr val="bg2"/>
          </a:solidFill>
          <a:ln/>
        </p:spPr>
      </p:sp>
      <p:sp>
        <p:nvSpPr>
          <p:cNvPr id="16" name="badge LuGauge"/>
          <p:cNvSpPr/>
          <p:nvPr/>
        </p:nvSpPr>
        <p:spPr>
          <a:xfrm>
            <a:off x="822960" y="4114800"/>
            <a:ext cx="548640" cy="548640"/>
          </a:xfrm>
          <a:prstGeom prst="ellipse">
            <a:avLst/>
          </a:prstGeom>
          <a:solidFill>
            <a:schemeClr val="bg1"/>
          </a:solidFill>
          <a:ln/>
        </p:spPr>
      </p:sp>
      <p:pic>
        <p:nvPicPr>
          <p:cNvPr id="17" name="icon LuGauge" descr="preencoded.png">    </p:cNvPr>
          <p:cNvPicPr>
            <a:picLocks noChangeAspect="1"/>
          </p:cNvPicPr>
          <p:nvPr/>
        </p:nvPicPr>
        <p:blipFill>
          <a:blip r:embed="rId3"/>
          <a:stretch>
            <a:fillRect/>
          </a:stretch>
        </p:blipFill>
        <p:spPr>
          <a:xfrm>
            <a:off x="954634" y="4246474"/>
            <a:ext cx="285293" cy="285293"/>
          </a:xfrm>
          <a:prstGeom prst="rect">
            <a:avLst/>
          </a:prstGeom>
        </p:spPr>
      </p:pic>
      <p:sp>
        <p:nvSpPr>
          <p:cNvPr id="18" name="Text 13"/>
          <p:cNvSpPr txBox="1"/>
          <p:nvPr/>
        </p:nvSpPr>
        <p:spPr>
          <a:xfrm>
            <a:off x="1554480" y="4187952"/>
            <a:ext cx="4206240" cy="411480"/>
          </a:xfrm>
          <a:prstGeom prst="rect">
            <a:avLst/>
          </a:prstGeom>
          <a:noFill/>
          <a:ln/>
        </p:spPr>
        <p:txBody>
          <a:bodyPr wrap="square" lIns="0" tIns="0" rIns="0" bIns="0" rtlCol="0" anchor="t"/>
          <a:lstStyle/>
          <a:p>
            <a:pPr indent="0" marL="0">
              <a:buNone/>
            </a:pPr>
            <a:r>
              <a:rPr lang="en-US" sz="1800" b="1" dirty="0">
                <a:solidFill>
                  <a:schemeClr val="tx2"/>
                </a:solidFill>
              </a:rPr>
              <a:t>Pooled cell capacity</a:t>
            </a:r>
            <a:endParaRPr lang="en-US" sz="1800" dirty="0"/>
          </a:p>
        </p:txBody>
      </p:sp>
      <p:sp>
        <p:nvSpPr>
          <p:cNvPr id="19" name="Text 14"/>
          <p:cNvSpPr txBox="1"/>
          <p:nvPr/>
        </p:nvSpPr>
        <p:spPr>
          <a:xfrm>
            <a:off x="822960" y="4800600"/>
            <a:ext cx="4892040" cy="685800"/>
          </a:xfrm>
          <a:prstGeom prst="rect">
            <a:avLst/>
          </a:prstGeom>
          <a:noFill/>
          <a:ln/>
        </p:spPr>
        <p:txBody>
          <a:bodyPr wrap="square" lIns="0" tIns="0" rIns="0" bIns="0" rtlCol="0" anchor="t"/>
          <a:lstStyle/>
          <a:p>
            <a:pPr indent="0" marL="0">
              <a:buNone/>
            </a:pPr>
            <a:r>
              <a:rPr lang="en-US" sz="1400" dirty="0">
                <a:solidFill>
                  <a:schemeClr val="tx1"/>
                </a:solidFill>
              </a:rPr>
              <a:t>200 Starter realms and 40 Business instances per cell are estimates.</a:t>
            </a:r>
            <a:endParaRPr lang="en-US" sz="1400" dirty="0"/>
          </a:p>
        </p:txBody>
      </p:sp>
      <p:sp>
        <p:nvSpPr>
          <p:cNvPr id="20" name="Text 15"/>
          <p:cNvSpPr txBox="1"/>
          <p:nvPr/>
        </p:nvSpPr>
        <p:spPr>
          <a:xfrm>
            <a:off x="822960" y="5486400"/>
            <a:ext cx="4892040" cy="365760"/>
          </a:xfrm>
          <a:prstGeom prst="rect">
            <a:avLst/>
          </a:prstGeom>
          <a:noFill/>
          <a:ln/>
        </p:spPr>
        <p:txBody>
          <a:bodyPr wrap="square" lIns="0" tIns="0" rIns="0" bIns="0" rtlCol="0" anchor="t"/>
          <a:lstStyle/>
          <a:p>
            <a:pPr indent="0" marL="0">
              <a:buNone/>
            </a:pPr>
            <a:r>
              <a:rPr lang="en-US" sz="1300" b="1" dirty="0">
                <a:solidFill>
                  <a:schemeClr val="accent1"/>
                </a:solidFill>
              </a:rPr>
              <a:t>Next: Load tests on Keycloak</a:t>
            </a:r>
            <a:endParaRPr lang="en-US" sz="1300" dirty="0"/>
          </a:p>
        </p:txBody>
      </p:sp>
      <p:sp>
        <p:nvSpPr>
          <p:cNvPr id="21" name="risk 4"/>
          <p:cNvSpPr/>
          <p:nvPr/>
        </p:nvSpPr>
        <p:spPr>
          <a:xfrm>
            <a:off x="6172200" y="3840480"/>
            <a:ext cx="5440680" cy="2148840"/>
          </a:xfrm>
          <a:prstGeom prst="roundRect">
            <a:avLst>
              <a:gd name="adj" fmla="val 3404"/>
            </a:avLst>
          </a:prstGeom>
          <a:solidFill>
            <a:schemeClr val="bg2"/>
          </a:solidFill>
          <a:ln/>
        </p:spPr>
      </p:sp>
      <p:sp>
        <p:nvSpPr>
          <p:cNvPr id="22" name="badge LuTriangleAlert"/>
          <p:cNvSpPr/>
          <p:nvPr/>
        </p:nvSpPr>
        <p:spPr>
          <a:xfrm>
            <a:off x="6446520" y="4114800"/>
            <a:ext cx="548640" cy="548640"/>
          </a:xfrm>
          <a:prstGeom prst="ellipse">
            <a:avLst/>
          </a:prstGeom>
          <a:solidFill>
            <a:schemeClr val="accent1"/>
          </a:solidFill>
          <a:ln/>
        </p:spPr>
      </p:sp>
      <p:pic>
        <p:nvPicPr>
          <p:cNvPr id="23" name="icon LuTriangleAlert" descr="preencoded.png">    </p:cNvPr>
          <p:cNvPicPr>
            <a:picLocks noChangeAspect="1"/>
          </p:cNvPicPr>
          <p:nvPr/>
        </p:nvPicPr>
        <p:blipFill>
          <a:blip r:embed="rId4"/>
          <a:stretch>
            <a:fillRect/>
          </a:stretch>
        </p:blipFill>
        <p:spPr>
          <a:xfrm>
            <a:off x="6578194" y="4246474"/>
            <a:ext cx="285293" cy="285293"/>
          </a:xfrm>
          <a:prstGeom prst="rect">
            <a:avLst/>
          </a:prstGeom>
        </p:spPr>
      </p:pic>
      <p:sp>
        <p:nvSpPr>
          <p:cNvPr id="24" name="Text 18"/>
          <p:cNvSpPr txBox="1"/>
          <p:nvPr/>
        </p:nvSpPr>
        <p:spPr>
          <a:xfrm>
            <a:off x="7178040" y="4187952"/>
            <a:ext cx="4206240" cy="411480"/>
          </a:xfrm>
          <a:prstGeom prst="rect">
            <a:avLst/>
          </a:prstGeom>
          <a:noFill/>
          <a:ln/>
        </p:spPr>
        <p:txBody>
          <a:bodyPr wrap="square" lIns="0" tIns="0" rIns="0" bIns="0" rtlCol="0" anchor="t"/>
          <a:lstStyle/>
          <a:p>
            <a:pPr indent="0" marL="0">
              <a:buNone/>
            </a:pPr>
            <a:r>
              <a:rPr lang="en-US" sz="1800" b="1" dirty="0">
                <a:solidFill>
                  <a:schemeClr val="tx2"/>
                </a:solidFill>
              </a:rPr>
              <a:t>Brand name</a:t>
            </a:r>
            <a:endParaRPr lang="en-US" sz="1800" dirty="0"/>
          </a:p>
        </p:txBody>
      </p:sp>
      <p:sp>
        <p:nvSpPr>
          <p:cNvPr id="25" name="Text 19"/>
          <p:cNvSpPr txBox="1"/>
          <p:nvPr/>
        </p:nvSpPr>
        <p:spPr>
          <a:xfrm>
            <a:off x="6446520" y="4800600"/>
            <a:ext cx="4892040" cy="685800"/>
          </a:xfrm>
          <a:prstGeom prst="rect">
            <a:avLst/>
          </a:prstGeom>
          <a:noFill/>
          <a:ln/>
        </p:spPr>
        <p:txBody>
          <a:bodyPr wrap="square" lIns="0" tIns="0" rIns="0" bIns="0" rtlCol="0" anchor="t"/>
          <a:lstStyle/>
          <a:p>
            <a:pPr indent="0" marL="0">
              <a:buNone/>
            </a:pPr>
            <a:r>
              <a:rPr lang="en-US" sz="1400" dirty="0">
                <a:solidFill>
                  <a:schemeClr val="tx1"/>
                </a:solidFill>
              </a:rPr>
              <a:t>zimam.com, .sa, .io, .ai and .dev are taken; zimam.dev is an AI agent governance product.</a:t>
            </a:r>
            <a:endParaRPr lang="en-US" sz="1400" dirty="0"/>
          </a:p>
        </p:txBody>
      </p:sp>
      <p:sp>
        <p:nvSpPr>
          <p:cNvPr id="26" name="Text 20"/>
          <p:cNvSpPr txBox="1"/>
          <p:nvPr/>
        </p:nvSpPr>
        <p:spPr>
          <a:xfrm>
            <a:off x="6446520" y="5486400"/>
            <a:ext cx="4892040" cy="365760"/>
          </a:xfrm>
          <a:prstGeom prst="rect">
            <a:avLst/>
          </a:prstGeom>
          <a:noFill/>
          <a:ln/>
        </p:spPr>
        <p:txBody>
          <a:bodyPr wrap="square" lIns="0" tIns="0" rIns="0" bIns="0" rtlCol="0" anchor="t"/>
          <a:lstStyle/>
          <a:p>
            <a:pPr indent="0" marL="0">
              <a:buNone/>
            </a:pPr>
            <a:r>
              <a:rPr lang="en-US" sz="1300" b="1" dirty="0">
                <a:solidFill>
                  <a:schemeClr val="accent1"/>
                </a:solidFill>
              </a:rPr>
              <a:t>Next: SAIP trademark search; zimamid.com and .sa are free</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731520"/>
            <a:ext cx="731520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Decisions we need today</a:t>
            </a:r>
            <a:endParaRPr lang="en-US" sz="4000" dirty="0"/>
          </a:p>
        </p:txBody>
      </p:sp>
      <p:sp>
        <p:nvSpPr>
          <p:cNvPr id="3" name="decision 1"/>
          <p:cNvSpPr/>
          <p:nvPr/>
        </p:nvSpPr>
        <p:spPr>
          <a:xfrm>
            <a:off x="731520" y="1920240"/>
            <a:ext cx="548640" cy="548640"/>
          </a:xfrm>
          <a:prstGeom prst="ellipse">
            <a:avLst/>
          </a:prstGeom>
          <a:solidFill>
            <a:schemeClr val="accent1"/>
          </a:solidFill>
          <a:ln/>
        </p:spPr>
      </p:sp>
      <p:sp>
        <p:nvSpPr>
          <p:cNvPr id="4" name="Text 2"/>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54480" y="1901952"/>
            <a:ext cx="6035040" cy="411480"/>
          </a:xfrm>
          <a:prstGeom prst="rect">
            <a:avLst/>
          </a:prstGeom>
          <a:noFill/>
          <a:ln/>
        </p:spPr>
        <p:txBody>
          <a:bodyPr wrap="square" lIns="0" tIns="0" rIns="0" bIns="0" rtlCol="0" anchor="t"/>
          <a:lstStyle/>
          <a:p>
            <a:pPr indent="0" marL="0">
              <a:buNone/>
            </a:pPr>
            <a:r>
              <a:rPr lang="en-US" sz="2200" b="1" dirty="0">
                <a:solidFill>
                  <a:schemeClr val="bg1"/>
                </a:solidFill>
              </a:rPr>
              <a:t>Approve the price book as v1</a:t>
            </a:r>
            <a:endParaRPr lang="en-US" sz="2200" dirty="0"/>
          </a:p>
        </p:txBody>
      </p:sp>
      <p:sp>
        <p:nvSpPr>
          <p:cNvPr id="6" name="Text 4"/>
          <p:cNvSpPr txBox="1"/>
          <p:nvPr/>
        </p:nvSpPr>
        <p:spPr>
          <a:xfrm>
            <a:off x="1554480" y="2359152"/>
            <a:ext cx="6035040" cy="685800"/>
          </a:xfrm>
          <a:prstGeom prst="rect">
            <a:avLst/>
          </a:prstGeom>
          <a:noFill/>
          <a:ln/>
        </p:spPr>
        <p:txBody>
          <a:bodyPr wrap="square" lIns="0" tIns="0" rIns="0" bIns="0" rtlCol="0" anchor="t"/>
          <a:lstStyle/>
          <a:p>
            <a:pPr indent="0" marL="0">
              <a:buNone/>
            </a:pPr>
            <a:r>
              <a:rPr lang="en-US" sz="1500" dirty="0">
                <a:solidFill>
                  <a:schemeClr val="accent6"/>
                </a:solidFill>
              </a:rPr>
              <a:t>Starter per MAU band, Business and Enterprise per instance, in SAR, published after the open items close</a:t>
            </a:r>
            <a:endParaRPr lang="en-US" sz="1500" dirty="0"/>
          </a:p>
        </p:txBody>
      </p:sp>
      <p:sp>
        <p:nvSpPr>
          <p:cNvPr id="7" name="decision 2"/>
          <p:cNvSpPr/>
          <p:nvPr/>
        </p:nvSpPr>
        <p:spPr>
          <a:xfrm>
            <a:off x="731520" y="3291840"/>
            <a:ext cx="548640" cy="548640"/>
          </a:xfrm>
          <a:prstGeom prst="ellipse">
            <a:avLst/>
          </a:prstGeom>
          <a:solidFill>
            <a:schemeClr val="accent1"/>
          </a:solidFill>
          <a:ln/>
        </p:spPr>
      </p:sp>
      <p:sp>
        <p:nvSpPr>
          <p:cNvPr id="8" name="Text 6"/>
          <p:cNvSpPr txBox="1"/>
          <p:nvPr/>
        </p:nvSpPr>
        <p:spPr>
          <a:xfrm>
            <a:off x="73152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54480" y="3273552"/>
            <a:ext cx="6035040" cy="411480"/>
          </a:xfrm>
          <a:prstGeom prst="rect">
            <a:avLst/>
          </a:prstGeom>
          <a:noFill/>
          <a:ln/>
        </p:spPr>
        <p:txBody>
          <a:bodyPr wrap="square" lIns="0" tIns="0" rIns="0" bIns="0" rtlCol="0" anchor="t"/>
          <a:lstStyle/>
          <a:p>
            <a:pPr indent="0" marL="0">
              <a:buNone/>
            </a:pPr>
            <a:r>
              <a:rPr lang="en-US" sz="2200" b="1" dirty="0">
                <a:solidFill>
                  <a:schemeClr val="bg1"/>
                </a:solidFill>
              </a:rPr>
              <a:t>Approve the phased cost plan</a:t>
            </a:r>
            <a:endParaRPr lang="en-US" sz="2200" dirty="0"/>
          </a:p>
        </p:txBody>
      </p:sp>
      <p:sp>
        <p:nvSpPr>
          <p:cNvPr id="10" name="Text 8"/>
          <p:cNvSpPr txBox="1"/>
          <p:nvPr/>
        </p:nvSpPr>
        <p:spPr>
          <a:xfrm>
            <a:off x="1554480" y="3730752"/>
            <a:ext cx="6035040" cy="685800"/>
          </a:xfrm>
          <a:prstGeom prst="rect">
            <a:avLst/>
          </a:prstGeom>
          <a:noFill/>
          <a:ln/>
        </p:spPr>
        <p:txBody>
          <a:bodyPr wrap="square" lIns="0" tIns="0" rIns="0" bIns="0" rtlCol="0" anchor="t"/>
          <a:lstStyle/>
          <a:p>
            <a:pPr indent="0" marL="0">
              <a:buNone/>
            </a:pPr>
            <a:r>
              <a:rPr lang="en-US" sz="1500" dirty="0">
                <a:solidFill>
                  <a:schemeClr val="accent6"/>
                </a:solidFill>
              </a:rPr>
              <a:t>Launch at SAR 33k a month before salaries; add the SOC partner only with the first Enterprise contract</a:t>
            </a:r>
            <a:endParaRPr lang="en-US" sz="1500" dirty="0"/>
          </a:p>
        </p:txBody>
      </p:sp>
      <p:sp>
        <p:nvSpPr>
          <p:cNvPr id="11" name="decision 3"/>
          <p:cNvSpPr/>
          <p:nvPr/>
        </p:nvSpPr>
        <p:spPr>
          <a:xfrm>
            <a:off x="731520" y="4663440"/>
            <a:ext cx="548640" cy="548640"/>
          </a:xfrm>
          <a:prstGeom prst="ellipse">
            <a:avLst/>
          </a:prstGeom>
          <a:solidFill>
            <a:schemeClr val="accent1"/>
          </a:solidFill>
          <a:ln/>
        </p:spPr>
      </p:sp>
      <p:sp>
        <p:nvSpPr>
          <p:cNvPr id="12" name="Text 10"/>
          <p:cNvSpPr txBox="1"/>
          <p:nvPr/>
        </p:nvSpPr>
        <p:spPr>
          <a:xfrm>
            <a:off x="731520" y="4663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54480" y="4645152"/>
            <a:ext cx="6035040" cy="411480"/>
          </a:xfrm>
          <a:prstGeom prst="rect">
            <a:avLst/>
          </a:prstGeom>
          <a:noFill/>
          <a:ln/>
        </p:spPr>
        <p:txBody>
          <a:bodyPr wrap="square" lIns="0" tIns="0" rIns="0" bIns="0" rtlCol="0" anchor="t"/>
          <a:lstStyle/>
          <a:p>
            <a:pPr indent="0" marL="0">
              <a:buNone/>
            </a:pPr>
            <a:r>
              <a:rPr lang="en-US" sz="2200" b="1" dirty="0">
                <a:solidFill>
                  <a:schemeClr val="bg1"/>
                </a:solidFill>
              </a:rPr>
              <a:t>Start the four open items now</a:t>
            </a:r>
            <a:endParaRPr lang="en-US" sz="2200" dirty="0"/>
          </a:p>
        </p:txBody>
      </p:sp>
      <p:sp>
        <p:nvSpPr>
          <p:cNvPr id="14" name="Text 12"/>
          <p:cNvSpPr txBox="1"/>
          <p:nvPr/>
        </p:nvSpPr>
        <p:spPr>
          <a:xfrm>
            <a:off x="1554480" y="5102352"/>
            <a:ext cx="6035040" cy="685800"/>
          </a:xfrm>
          <a:prstGeom prst="rect">
            <a:avLst/>
          </a:prstGeom>
          <a:noFill/>
          <a:ln/>
        </p:spPr>
        <p:txBody>
          <a:bodyPr wrap="square" lIns="0" tIns="0" rIns="0" bIns="0" rtlCol="0" anchor="t"/>
          <a:lstStyle/>
          <a:p>
            <a:pPr indent="0" marL="0">
              <a:buNone/>
            </a:pPr>
            <a:r>
              <a:rPr lang="en-US" sz="1500" dirty="0">
                <a:solidFill>
                  <a:schemeClr val="accent6"/>
                </a:solidFill>
              </a:rPr>
              <a:t>Oracle pricing call, third-party quotes, load tests, trademark search and fallback domains</a:t>
            </a:r>
            <a:endParaRPr lang="en-US" sz="1500" dirty="0"/>
          </a:p>
        </p:txBody>
      </p:sp>
    </p:spTree>
  </p:cSld>
  <p:clrMapOvr>
    <a:masterClrMapping/>
  </p:clrMapOvr>
</p:sld>
</file>

<file path=ppt/theme/theme1.xml><?xml version="1.0" encoding="utf-8"?>
<a:theme xmlns:a="http://schemas.openxmlformats.org/drawingml/2006/main" name="Zimam">
  <a:themeElements>
    <a:clrScheme name="Zimam">
      <a:dk1>
        <a:srgbClr val="16201B"/>
      </a:dk1>
      <a:lt1>
        <a:srgbClr val="FFFFFF"/>
      </a:lt1>
      <a:dk2>
        <a:srgbClr val="0B3D2E"/>
      </a:dk2>
      <a:lt2>
        <a:srgbClr val="EEF3F0"/>
      </a:lt2>
      <a:accent1>
        <a:srgbClr val="0C6A4E"/>
      </a:accent1>
      <a:accent2>
        <a:srgbClr val="B26B00"/>
      </a:accent2>
      <a:accent3>
        <a:srgbClr val="7A3E9D"/>
      </a:accent3>
      <a:accent4>
        <a:srgbClr val="2458C6"/>
      </a:accent4>
      <a:accent5>
        <a:srgbClr val="56645C"/>
      </a:accent5>
      <a:accent6>
        <a:srgbClr val="9BC9B5"/>
      </a:accent6>
      <a:hlink>
        <a:srgbClr val="0C6A4E"/>
      </a:hlink>
      <a:folHlink>
        <a:srgbClr val="7A3E9D"/>
      </a:folHlink>
    </a:clrScheme>
    <a:fontScheme name="Zim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Zimam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Zimam pricing and unit economics</dc:title>
  <dc:subject>PptxGenJS Presentation</dc:subject>
  <dc:creator>Ahmed Assaf</dc:creator>
  <cp:lastModifiedBy>Ahmed Assaf</cp:lastModifiedBy>
  <cp:revision>1</cp:revision>
  <dcterms:created xsi:type="dcterms:W3CDTF">2026-10-08T09:39:57Z</dcterms:created>
  <dcterms:modified xsi:type="dcterms:W3CDTF">2026-10-08T09:39:57Z</dcterms:modified>
</cp:coreProperties>
</file>